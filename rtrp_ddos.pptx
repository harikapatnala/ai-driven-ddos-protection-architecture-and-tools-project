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F8DF48-675E-4311-B5E1-7B7DEAC232B3}" v="4" dt="2026-03-28T04:34:29.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17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520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247r1a05u3/AI-DRIVEN-DDOS-PROTECTION-ARCHITECTURE-AND-TOOLS.git"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E3A5F"/>
          </a:solidFill>
          <a:ln w="12700">
            <a:solidFill>
              <a:srgbClr val="1E3A5F"/>
            </a:solidFill>
            <a:prstDash val="solid"/>
          </a:ln>
        </p:spPr>
      </p:sp>
      <p:sp>
        <p:nvSpPr>
          <p:cNvPr id="3" name="Shape 1"/>
          <p:cNvSpPr/>
          <p:nvPr/>
        </p:nvSpPr>
        <p:spPr>
          <a:xfrm>
            <a:off x="0" y="1078992"/>
            <a:ext cx="9144000" cy="45720"/>
          </a:xfrm>
          <a:prstGeom prst="rect">
            <a:avLst/>
          </a:prstGeom>
          <a:solidFill>
            <a:srgbClr val="2563EB"/>
          </a:solidFill>
          <a:ln w="12700">
            <a:solidFill>
              <a:srgbClr val="2563EB"/>
            </a:solidFill>
            <a:prstDash val="solid"/>
          </a:ln>
        </p:spPr>
      </p:sp>
      <p:sp>
        <p:nvSpPr>
          <p:cNvPr id="4" name="Text 2"/>
          <p:cNvSpPr/>
          <p:nvPr/>
        </p:nvSpPr>
        <p:spPr>
          <a:xfrm>
            <a:off x="274320" y="54864"/>
            <a:ext cx="8595360" cy="420624"/>
          </a:xfrm>
          <a:prstGeom prst="rect">
            <a:avLst/>
          </a:prstGeom>
          <a:no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CMR TECHNICAL CAMPUS</a:t>
            </a:r>
            <a:endParaRPr lang="en-US" sz="1900" dirty="0"/>
          </a:p>
        </p:txBody>
      </p:sp>
      <p:sp>
        <p:nvSpPr>
          <p:cNvPr id="5" name="Text 3"/>
          <p:cNvSpPr/>
          <p:nvPr/>
        </p:nvSpPr>
        <p:spPr>
          <a:xfrm>
            <a:off x="274320" y="475488"/>
            <a:ext cx="8595360" cy="274320"/>
          </a:xfrm>
          <a:prstGeom prst="rect">
            <a:avLst/>
          </a:prstGeom>
          <a:noFill/>
          <a:ln/>
        </p:spPr>
        <p:txBody>
          <a:bodyPr wrap="square" rtlCol="0" anchor="ctr"/>
          <a:lstStyle/>
          <a:p>
            <a:pPr marL="0" indent="0" algn="ctr">
              <a:buNone/>
            </a:pPr>
            <a:r>
              <a:rPr lang="en-US" sz="1100" dirty="0">
                <a:solidFill>
                  <a:srgbClr val="BFDBFE"/>
                </a:solidFill>
                <a:latin typeface="Calibri" pitchFamily="34" charset="0"/>
                <a:ea typeface="Calibri" pitchFamily="34" charset="-122"/>
                <a:cs typeface="Calibri" pitchFamily="34" charset="-120"/>
              </a:rPr>
              <a:t>Department of Computer Science &amp; Engineering  |  RTRP Review-II Presentation</a:t>
            </a:r>
            <a:endParaRPr lang="en-US" sz="1100" dirty="0"/>
          </a:p>
        </p:txBody>
      </p:sp>
      <p:sp>
        <p:nvSpPr>
          <p:cNvPr id="6" name="Text 4"/>
          <p:cNvSpPr/>
          <p:nvPr/>
        </p:nvSpPr>
        <p:spPr>
          <a:xfrm>
            <a:off x="274320" y="768096"/>
            <a:ext cx="8595360" cy="256032"/>
          </a:xfrm>
          <a:prstGeom prst="rect">
            <a:avLst/>
          </a:prstGeom>
          <a:noFill/>
          <a:ln/>
        </p:spPr>
        <p:txBody>
          <a:bodyPr wrap="square" rtlCol="0" anchor="ctr"/>
          <a:lstStyle/>
          <a:p>
            <a:pPr marL="0" indent="0" algn="ctr">
              <a:buNone/>
            </a:pPr>
            <a:r>
              <a:rPr lang="en-US" sz="950" dirty="0">
                <a:solidFill>
                  <a:srgbClr val="93C5FD"/>
                </a:solidFill>
                <a:latin typeface="Calibri" pitchFamily="34" charset="0"/>
                <a:ea typeface="Calibri" pitchFamily="34" charset="-122"/>
                <a:cs typeface="Calibri" pitchFamily="34" charset="-120"/>
              </a:rPr>
              <a:t>UGC Autonomous  |  Accredited by NAAC &amp; NBA  |  Affiliated to JNTUH  |  Approved by AICTE, New Delhi</a:t>
            </a:r>
            <a:endParaRPr lang="en-US" sz="950" dirty="0"/>
          </a:p>
        </p:txBody>
      </p:sp>
      <p:sp>
        <p:nvSpPr>
          <p:cNvPr id="7" name="Shape 5"/>
          <p:cNvSpPr/>
          <p:nvPr/>
        </p:nvSpPr>
        <p:spPr>
          <a:xfrm>
            <a:off x="594360" y="1298448"/>
            <a:ext cx="7955280" cy="2011680"/>
          </a:xfrm>
          <a:prstGeom prst="rect">
            <a:avLst/>
          </a:prstGeom>
          <a:solidFill>
            <a:srgbClr val="DBEAFE"/>
          </a:solidFill>
          <a:ln w="19050">
            <a:solidFill>
              <a:srgbClr val="2563EB"/>
            </a:solidFill>
            <a:prstDash val="solid"/>
          </a:ln>
          <a:effectLst>
            <a:outerShdw blurRad="76200" dist="25400" dir="8100000" algn="bl" rotWithShape="0">
              <a:srgbClr val="000000">
                <a:alpha val="10000"/>
              </a:srgbClr>
            </a:outerShdw>
          </a:effectLst>
        </p:spPr>
      </p:sp>
      <p:sp>
        <p:nvSpPr>
          <p:cNvPr id="8" name="Text 6"/>
          <p:cNvSpPr/>
          <p:nvPr/>
        </p:nvSpPr>
        <p:spPr>
          <a:xfrm>
            <a:off x="777240" y="1389888"/>
            <a:ext cx="7589520" cy="621792"/>
          </a:xfrm>
          <a:prstGeom prst="rect">
            <a:avLst/>
          </a:prstGeom>
          <a:noFill/>
          <a:ln/>
        </p:spPr>
        <p:txBody>
          <a:bodyPr wrap="square" rtlCol="0" anchor="ctr"/>
          <a:lstStyle/>
          <a:p>
            <a:pPr marL="0" indent="0" algn="ctr">
              <a:buNone/>
            </a:pPr>
            <a:r>
              <a:rPr lang="en-US" sz="3000" b="1" dirty="0">
                <a:solidFill>
                  <a:srgbClr val="1E3A5F"/>
                </a:solidFill>
                <a:latin typeface="Calibri" pitchFamily="34" charset="0"/>
                <a:ea typeface="Calibri" pitchFamily="34" charset="-122"/>
                <a:cs typeface="Calibri" pitchFamily="34" charset="-120"/>
              </a:rPr>
              <a:t>AI-DRIVEN DDoS PROTECTION</a:t>
            </a:r>
            <a:endParaRPr lang="en-US" sz="3000" dirty="0"/>
          </a:p>
        </p:txBody>
      </p:sp>
      <p:sp>
        <p:nvSpPr>
          <p:cNvPr id="9" name="Text 7"/>
          <p:cNvSpPr/>
          <p:nvPr/>
        </p:nvSpPr>
        <p:spPr>
          <a:xfrm>
            <a:off x="777240" y="1975104"/>
            <a:ext cx="7589520" cy="512064"/>
          </a:xfrm>
          <a:prstGeom prst="rect">
            <a:avLst/>
          </a:prstGeom>
          <a:noFill/>
          <a:ln/>
        </p:spPr>
        <p:txBody>
          <a:bodyPr wrap="square" rtlCol="0" anchor="ctr"/>
          <a:lstStyle/>
          <a:p>
            <a:pPr marL="0" indent="0" algn="ctr">
              <a:buNone/>
            </a:pPr>
            <a:r>
              <a:rPr lang="en-US" sz="2500" b="1" dirty="0">
                <a:solidFill>
                  <a:srgbClr val="1D4ED8"/>
                </a:solidFill>
                <a:latin typeface="Calibri" pitchFamily="34" charset="0"/>
                <a:ea typeface="Calibri" pitchFamily="34" charset="-122"/>
                <a:cs typeface="Calibri" pitchFamily="34" charset="-120"/>
              </a:rPr>
              <a:t>ARCHITECTURE AND TOOLS</a:t>
            </a:r>
            <a:endParaRPr lang="en-US" sz="2500" dirty="0"/>
          </a:p>
        </p:txBody>
      </p:sp>
      <p:sp>
        <p:nvSpPr>
          <p:cNvPr id="10" name="Text 8"/>
          <p:cNvSpPr/>
          <p:nvPr/>
        </p:nvSpPr>
        <p:spPr>
          <a:xfrm>
            <a:off x="777240" y="2505456"/>
            <a:ext cx="7589520" cy="329184"/>
          </a:xfrm>
          <a:prstGeom prst="rect">
            <a:avLst/>
          </a:prstGeom>
          <a:noFill/>
          <a:ln/>
        </p:spPr>
        <p:txBody>
          <a:bodyPr wrap="square" rtlCol="0" anchor="ctr"/>
          <a:lstStyle/>
          <a:p>
            <a:pPr marL="0" indent="0" algn="ctr">
              <a:buNone/>
            </a:pPr>
            <a:r>
              <a:rPr lang="en-US" sz="1250" i="1" dirty="0">
                <a:solidFill>
                  <a:srgbClr val="1E3A5F"/>
                </a:solidFill>
                <a:latin typeface="Calibri" pitchFamily="34" charset="0"/>
                <a:ea typeface="Calibri" pitchFamily="34" charset="-122"/>
                <a:cs typeface="Calibri" pitchFamily="34" charset="-120"/>
              </a:rPr>
              <a:t>Detection of DDoS Attacks Using Entropy Analysis &amp; CUSUM Algorithm</a:t>
            </a:r>
            <a:endParaRPr lang="en-US" sz="1250" dirty="0"/>
          </a:p>
        </p:txBody>
      </p:sp>
      <p:sp>
        <p:nvSpPr>
          <p:cNvPr id="11" name="Shape 9"/>
          <p:cNvSpPr/>
          <p:nvPr/>
        </p:nvSpPr>
        <p:spPr>
          <a:xfrm>
            <a:off x="457200" y="3419856"/>
            <a:ext cx="8229600" cy="18288"/>
          </a:xfrm>
          <a:prstGeom prst="rect">
            <a:avLst/>
          </a:prstGeom>
          <a:solidFill>
            <a:srgbClr val="E2E8F0"/>
          </a:solidFill>
          <a:ln w="12700">
            <a:solidFill>
              <a:srgbClr val="E2E8F0"/>
            </a:solidFill>
            <a:prstDash val="solid"/>
          </a:ln>
        </p:spPr>
      </p:sp>
      <p:sp>
        <p:nvSpPr>
          <p:cNvPr id="12" name="Text 10"/>
          <p:cNvSpPr/>
          <p:nvPr/>
        </p:nvSpPr>
        <p:spPr>
          <a:xfrm>
            <a:off x="4718184" y="3462207"/>
            <a:ext cx="4114800" cy="27432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Presented by:</a:t>
            </a:r>
            <a:endParaRPr lang="en-US" sz="1100" dirty="0"/>
          </a:p>
        </p:txBody>
      </p:sp>
      <p:sp>
        <p:nvSpPr>
          <p:cNvPr id="13" name="Text 11"/>
          <p:cNvSpPr/>
          <p:nvPr/>
        </p:nvSpPr>
        <p:spPr>
          <a:xfrm>
            <a:off x="4718184" y="3705726"/>
            <a:ext cx="4114800" cy="822960"/>
          </a:xfrm>
          <a:prstGeom prst="rect">
            <a:avLst/>
          </a:prstGeom>
          <a:noFill/>
          <a:ln/>
        </p:spPr>
        <p:txBody>
          <a:bodyPr wrap="square" rtlCol="0" anchor="ctr"/>
          <a:lstStyle/>
          <a:p>
            <a:pPr marL="0" indent="0">
              <a:buNone/>
            </a:pPr>
            <a:r>
              <a:rPr lang="en-US" sz="1250" dirty="0">
                <a:solidFill>
                  <a:srgbClr val="1A1A2E"/>
                </a:solidFill>
                <a:latin typeface="Calibri" pitchFamily="34" charset="0"/>
                <a:ea typeface="Calibri" pitchFamily="34" charset="-122"/>
                <a:cs typeface="Calibri" pitchFamily="34" charset="-120"/>
              </a:rPr>
              <a:t>Patnala Harika — 247R1A05X7</a:t>
            </a:r>
            <a:endParaRPr lang="en-US" sz="1250" dirty="0"/>
          </a:p>
          <a:p>
            <a:pPr marL="0" indent="0">
              <a:buNone/>
            </a:pPr>
            <a:r>
              <a:rPr lang="en-US" sz="1250" dirty="0">
                <a:solidFill>
                  <a:srgbClr val="1A1A2E"/>
                </a:solidFill>
                <a:latin typeface="Calibri" pitchFamily="34" charset="0"/>
                <a:ea typeface="Calibri" pitchFamily="34" charset="-122"/>
                <a:cs typeface="Calibri" pitchFamily="34" charset="-120"/>
              </a:rPr>
              <a:t>Donthula Vishwak — 247R1A05U3</a:t>
            </a:r>
            <a:endParaRPr lang="en-US" sz="1250" dirty="0"/>
          </a:p>
          <a:p>
            <a:pPr marL="0" indent="0">
              <a:buNone/>
            </a:pPr>
            <a:r>
              <a:rPr lang="en-US" sz="1250" dirty="0">
                <a:solidFill>
                  <a:srgbClr val="1A1A2E"/>
                </a:solidFill>
                <a:latin typeface="Calibri" pitchFamily="34" charset="0"/>
                <a:ea typeface="Calibri" pitchFamily="34" charset="-122"/>
                <a:cs typeface="Calibri" pitchFamily="34" charset="-120"/>
              </a:rPr>
              <a:t>Mudusu Aravind — 247R1A05W8</a:t>
            </a:r>
            <a:endParaRPr lang="en-US" sz="1250" dirty="0"/>
          </a:p>
        </p:txBody>
      </p:sp>
      <p:sp>
        <p:nvSpPr>
          <p:cNvPr id="14" name="Shape 12"/>
          <p:cNvSpPr/>
          <p:nvPr/>
        </p:nvSpPr>
        <p:spPr>
          <a:xfrm>
            <a:off x="4553712" y="3493008"/>
            <a:ext cx="18288" cy="1143000"/>
          </a:xfrm>
          <a:prstGeom prst="rect">
            <a:avLst/>
          </a:prstGeom>
          <a:solidFill>
            <a:srgbClr val="E2E8F0"/>
          </a:solidFill>
          <a:ln w="12700">
            <a:solidFill>
              <a:srgbClr val="E2E8F0"/>
            </a:solidFill>
            <a:prstDash val="solid"/>
          </a:ln>
        </p:spPr>
      </p:sp>
      <p:sp>
        <p:nvSpPr>
          <p:cNvPr id="15" name="Text 13"/>
          <p:cNvSpPr/>
          <p:nvPr/>
        </p:nvSpPr>
        <p:spPr>
          <a:xfrm>
            <a:off x="384168" y="3444882"/>
            <a:ext cx="4023360" cy="27432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Under the Guidance of:</a:t>
            </a:r>
            <a:endParaRPr lang="en-US" sz="1100" dirty="0"/>
          </a:p>
        </p:txBody>
      </p:sp>
      <p:sp>
        <p:nvSpPr>
          <p:cNvPr id="16" name="Text 14"/>
          <p:cNvSpPr/>
          <p:nvPr/>
        </p:nvSpPr>
        <p:spPr>
          <a:xfrm>
            <a:off x="384168" y="3675888"/>
            <a:ext cx="4023360" cy="822960"/>
          </a:xfrm>
          <a:prstGeom prst="rect">
            <a:avLst/>
          </a:prstGeom>
          <a:noFill/>
          <a:ln/>
        </p:spPr>
        <p:txBody>
          <a:bodyPr wrap="square" rtlCol="0" anchor="ctr"/>
          <a:lstStyle/>
          <a:p>
            <a:pPr marL="0" indent="0">
              <a:buNone/>
            </a:pPr>
            <a:r>
              <a:rPr lang="en-US" sz="1200">
                <a:solidFill>
                  <a:srgbClr val="1A1A2E"/>
                </a:solidFill>
                <a:latin typeface="Calibri" pitchFamily="34" charset="0"/>
                <a:ea typeface="Calibri" pitchFamily="34" charset="-122"/>
                <a:cs typeface="Calibri" pitchFamily="34" charset="-120"/>
              </a:rPr>
              <a:t>k.Praveen Kumar</a:t>
            </a:r>
            <a:endParaRPr lang="en-US" sz="1200" dirty="0"/>
          </a:p>
          <a:p>
            <a:pPr marL="0" indent="0">
              <a:buNone/>
            </a:pPr>
            <a:r>
              <a:rPr lang="en-US" sz="1200">
                <a:solidFill>
                  <a:srgbClr val="1A1A2E"/>
                </a:solidFill>
                <a:latin typeface="Calibri" pitchFamily="34" charset="0"/>
                <a:ea typeface="Calibri" pitchFamily="34" charset="-122"/>
                <a:cs typeface="Calibri" pitchFamily="34" charset="-120"/>
              </a:rPr>
              <a:t>Assistant </a:t>
            </a:r>
            <a:r>
              <a:rPr lang="en-US" sz="1200" dirty="0">
                <a:solidFill>
                  <a:srgbClr val="1A1A2E"/>
                </a:solidFill>
                <a:latin typeface="Calibri" pitchFamily="34" charset="0"/>
                <a:ea typeface="Calibri" pitchFamily="34" charset="-122"/>
                <a:cs typeface="Calibri" pitchFamily="34" charset="-120"/>
              </a:rPr>
              <a:t>Professor</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Dept. of Computer Science &amp; Engineering</a:t>
            </a:r>
            <a:endParaRPr lang="en-US" sz="1200" dirty="0"/>
          </a:p>
        </p:txBody>
      </p:sp>
      <p:sp>
        <p:nvSpPr>
          <p:cNvPr id="17" name="Shape 15"/>
          <p:cNvSpPr/>
          <p:nvPr/>
        </p:nvSpPr>
        <p:spPr>
          <a:xfrm>
            <a:off x="0" y="5001768"/>
            <a:ext cx="9144000" cy="141732"/>
          </a:xfrm>
          <a:prstGeom prst="rect">
            <a:avLst/>
          </a:prstGeom>
          <a:solidFill>
            <a:srgbClr val="E2E8F0"/>
          </a:solidFill>
          <a:ln w="12700">
            <a:solidFill>
              <a:srgbClr val="E2E8F0"/>
            </a:solidFill>
            <a:prstDash val="solid"/>
          </a:ln>
        </p:spPr>
      </p:sp>
      <p:sp>
        <p:nvSpPr>
          <p:cNvPr id="18" name="Text 16"/>
          <p:cNvSpPr/>
          <p:nvPr/>
        </p:nvSpPr>
        <p:spPr>
          <a:xfrm>
            <a:off x="182880" y="5001768"/>
            <a:ext cx="8778240" cy="141732"/>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Kandlakoya (V), Medchal Road, Hyderabad – 501 401  |  www.cmrtc.ac.in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  Introduction &amp; Overview (Abstract)</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2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Shape 6"/>
          <p:cNvSpPr/>
          <p:nvPr/>
        </p:nvSpPr>
        <p:spPr>
          <a:xfrm>
            <a:off x="274320" y="822960"/>
            <a:ext cx="8595360" cy="402336"/>
          </a:xfrm>
          <a:prstGeom prst="rect">
            <a:avLst/>
          </a:prstGeom>
          <a:solidFill>
            <a:srgbClr val="DBEAFE"/>
          </a:solidFill>
          <a:ln w="10160">
            <a:solidFill>
              <a:srgbClr val="2563EB"/>
            </a:solidFill>
            <a:prstDash val="solid"/>
          </a:ln>
        </p:spPr>
      </p:sp>
      <p:sp>
        <p:nvSpPr>
          <p:cNvPr id="9" name="Text 7"/>
          <p:cNvSpPr/>
          <p:nvPr/>
        </p:nvSpPr>
        <p:spPr>
          <a:xfrm>
            <a:off x="411480" y="822960"/>
            <a:ext cx="8412480" cy="402336"/>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What is a DDoS Attack?</a:t>
            </a:r>
            <a:endParaRPr lang="en-US" sz="1300" dirty="0"/>
          </a:p>
        </p:txBody>
      </p:sp>
      <p:sp>
        <p:nvSpPr>
          <p:cNvPr id="10" name="Text 8"/>
          <p:cNvSpPr/>
          <p:nvPr/>
        </p:nvSpPr>
        <p:spPr>
          <a:xfrm>
            <a:off x="365760" y="1261872"/>
            <a:ext cx="8412480" cy="777240"/>
          </a:xfrm>
          <a:prstGeom prst="rect">
            <a:avLst/>
          </a:prstGeom>
          <a:noFill/>
          <a:ln/>
        </p:spPr>
        <p:txBody>
          <a:bodyPr wrap="square" rtlCol="0" anchor="ctr"/>
          <a:lstStyle/>
          <a:p>
            <a:pPr algn="just"/>
            <a:r>
              <a:rPr lang="en-US" sz="1200">
                <a:solidFill>
                  <a:srgbClr val="1A1A2E"/>
                </a:solidFill>
                <a:latin typeface="Calibri" pitchFamily="34" charset="0"/>
                <a:ea typeface="Calibri" pitchFamily="34" charset="-122"/>
                <a:cs typeface="Calibri" pitchFamily="34" charset="-120"/>
              </a:rPr>
              <a:t>A DDoS attack (Distributed Denial of Service attack) is a type of cyberattack where many computers try to overload a website or server so that real users cannot access it. They </a:t>
            </a:r>
            <a:r>
              <a:rPr lang="en-US" sz="1200" dirty="0">
                <a:solidFill>
                  <a:srgbClr val="1A1A2E"/>
                </a:solidFill>
                <a:latin typeface="Calibri" pitchFamily="34" charset="0"/>
                <a:ea typeface="Calibri" pitchFamily="34" charset="-122"/>
                <a:cs typeface="Calibri" pitchFamily="34" charset="-120"/>
              </a:rPr>
              <a:t>target banks, hospitals, government websites and internet services — costing organisations thousands of dollars per hour.</a:t>
            </a:r>
            <a:endParaRPr lang="en-US" sz="1200" dirty="0"/>
          </a:p>
        </p:txBody>
      </p:sp>
      <p:sp>
        <p:nvSpPr>
          <p:cNvPr id="11" name="Shape 9"/>
          <p:cNvSpPr/>
          <p:nvPr/>
        </p:nvSpPr>
        <p:spPr>
          <a:xfrm>
            <a:off x="274320" y="2103120"/>
            <a:ext cx="8595360" cy="402336"/>
          </a:xfrm>
          <a:prstGeom prst="rect">
            <a:avLst/>
          </a:prstGeom>
          <a:solidFill>
            <a:srgbClr val="DBEAFE"/>
          </a:solidFill>
          <a:ln w="10160">
            <a:solidFill>
              <a:srgbClr val="2563EB"/>
            </a:solidFill>
            <a:prstDash val="solid"/>
          </a:ln>
        </p:spPr>
      </p:sp>
      <p:sp>
        <p:nvSpPr>
          <p:cNvPr id="12" name="Text 10"/>
          <p:cNvSpPr/>
          <p:nvPr/>
        </p:nvSpPr>
        <p:spPr>
          <a:xfrm>
            <a:off x="411480" y="2103120"/>
            <a:ext cx="8412480" cy="402336"/>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Our Approach — Entropy + CUSUM</a:t>
            </a:r>
            <a:endParaRPr lang="en-US" sz="1300" dirty="0"/>
          </a:p>
        </p:txBody>
      </p:sp>
      <p:sp>
        <p:nvSpPr>
          <p:cNvPr id="13" name="Text 11"/>
          <p:cNvSpPr/>
          <p:nvPr/>
        </p:nvSpPr>
        <p:spPr>
          <a:xfrm>
            <a:off x="365760" y="2542032"/>
            <a:ext cx="8412480" cy="777240"/>
          </a:xfrm>
          <a:prstGeom prst="rect">
            <a:avLst/>
          </a:prstGeom>
          <a:noFill/>
          <a:ln/>
        </p:spPr>
        <p:txBody>
          <a:bodyPr wrap="square" rtlCol="0" anchor="ctr"/>
          <a:lstStyle/>
          <a:p>
            <a:pPr marL="0" indent="0" algn="just">
              <a:buNone/>
            </a:pPr>
            <a:r>
              <a:rPr lang="en-US" sz="1200" dirty="0">
                <a:solidFill>
                  <a:srgbClr val="1A1A2E"/>
                </a:solidFill>
                <a:latin typeface="Calibri" pitchFamily="34" charset="0"/>
                <a:ea typeface="Calibri" pitchFamily="34" charset="-122"/>
                <a:cs typeface="Calibri" pitchFamily="34" charset="-120"/>
              </a:rPr>
              <a:t>This project uses Entropy Analysis (Shannon's formula) to measure randomness in network traffic. Normal traffic has stable entropy. DDoS causes sudden spikes or drops. The CUSUM (Cumulative Sum) algorithm continuously tracks these deviations and raises an alert the moment an attack is detected.</a:t>
            </a:r>
            <a:endParaRPr lang="en-US" sz="1200" dirty="0"/>
          </a:p>
        </p:txBody>
      </p:sp>
      <p:sp>
        <p:nvSpPr>
          <p:cNvPr id="14" name="Shape 12"/>
          <p:cNvSpPr/>
          <p:nvPr/>
        </p:nvSpPr>
        <p:spPr>
          <a:xfrm>
            <a:off x="256032" y="3511296"/>
            <a:ext cx="2011680" cy="1115568"/>
          </a:xfrm>
          <a:prstGeom prst="rect">
            <a:avLst/>
          </a:prstGeom>
          <a:solidFill>
            <a:srgbClr val="FFFFFF"/>
          </a:solidFill>
          <a:ln w="15240">
            <a:solidFill>
              <a:srgbClr val="2563EB"/>
            </a:solidFill>
            <a:prstDash val="solid"/>
          </a:ln>
          <a:effectLst>
            <a:outerShdw blurRad="76200" dist="25400" dir="8100000" algn="bl" rotWithShape="0">
              <a:srgbClr val="000000">
                <a:alpha val="10000"/>
              </a:srgbClr>
            </a:outerShdw>
          </a:effectLst>
        </p:spPr>
      </p:sp>
      <p:sp>
        <p:nvSpPr>
          <p:cNvPr id="15" name="Shape 13"/>
          <p:cNvSpPr/>
          <p:nvPr/>
        </p:nvSpPr>
        <p:spPr>
          <a:xfrm>
            <a:off x="256032" y="3511296"/>
            <a:ext cx="2011680" cy="54864"/>
          </a:xfrm>
          <a:prstGeom prst="rect">
            <a:avLst/>
          </a:prstGeom>
          <a:solidFill>
            <a:srgbClr val="2563EB"/>
          </a:solidFill>
          <a:ln w="12700">
            <a:solidFill>
              <a:srgbClr val="2563EB"/>
            </a:solidFill>
            <a:prstDash val="solid"/>
          </a:ln>
        </p:spPr>
      </p:sp>
      <p:sp>
        <p:nvSpPr>
          <p:cNvPr id="16" name="Text 14"/>
          <p:cNvSpPr/>
          <p:nvPr/>
        </p:nvSpPr>
        <p:spPr>
          <a:xfrm>
            <a:off x="256032" y="3566160"/>
            <a:ext cx="2011680" cy="566928"/>
          </a:xfrm>
          <a:prstGeom prst="rect">
            <a:avLst/>
          </a:prstGeom>
          <a:noFill/>
          <a:ln/>
        </p:spPr>
        <p:txBody>
          <a:bodyPr wrap="square" rtlCol="0" anchor="ctr"/>
          <a:lstStyle/>
          <a:p>
            <a:pPr marL="0" indent="0" algn="ctr">
              <a:buNone/>
            </a:pPr>
            <a:r>
              <a:rPr lang="en-US" sz="2000" b="1" dirty="0">
                <a:solidFill>
                  <a:srgbClr val="2563EB"/>
                </a:solidFill>
                <a:latin typeface="Calibri" pitchFamily="34" charset="0"/>
                <a:ea typeface="Calibri" pitchFamily="34" charset="-122"/>
                <a:cs typeface="Calibri" pitchFamily="34" charset="-120"/>
              </a:rPr>
              <a:t>92%</a:t>
            </a:r>
            <a:endParaRPr lang="en-US" sz="2000" dirty="0"/>
          </a:p>
        </p:txBody>
      </p:sp>
      <p:sp>
        <p:nvSpPr>
          <p:cNvPr id="17" name="Text 15"/>
          <p:cNvSpPr/>
          <p:nvPr/>
        </p:nvSpPr>
        <p:spPr>
          <a:xfrm>
            <a:off x="256032" y="4133088"/>
            <a:ext cx="2011680" cy="438912"/>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Detection</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Accuracy</a:t>
            </a:r>
            <a:endParaRPr lang="en-US" sz="1000" dirty="0"/>
          </a:p>
        </p:txBody>
      </p:sp>
      <p:sp>
        <p:nvSpPr>
          <p:cNvPr id="18" name="Shape 16"/>
          <p:cNvSpPr/>
          <p:nvPr/>
        </p:nvSpPr>
        <p:spPr>
          <a:xfrm>
            <a:off x="2432304" y="3511296"/>
            <a:ext cx="2011680" cy="1115568"/>
          </a:xfrm>
          <a:prstGeom prst="rect">
            <a:avLst/>
          </a:prstGeom>
          <a:solidFill>
            <a:srgbClr val="FFFFFF"/>
          </a:solidFill>
          <a:ln w="15240">
            <a:solidFill>
              <a:srgbClr val="2563EB"/>
            </a:solidFill>
            <a:prstDash val="solid"/>
          </a:ln>
          <a:effectLst>
            <a:outerShdw blurRad="76200" dist="25400" dir="8100000" algn="bl" rotWithShape="0">
              <a:srgbClr val="000000">
                <a:alpha val="10000"/>
              </a:srgbClr>
            </a:outerShdw>
          </a:effectLst>
        </p:spPr>
      </p:sp>
      <p:sp>
        <p:nvSpPr>
          <p:cNvPr id="19" name="Shape 17"/>
          <p:cNvSpPr/>
          <p:nvPr/>
        </p:nvSpPr>
        <p:spPr>
          <a:xfrm>
            <a:off x="2432304" y="3511296"/>
            <a:ext cx="2011680" cy="54864"/>
          </a:xfrm>
          <a:prstGeom prst="rect">
            <a:avLst/>
          </a:prstGeom>
          <a:solidFill>
            <a:srgbClr val="2563EB"/>
          </a:solidFill>
          <a:ln w="12700">
            <a:solidFill>
              <a:srgbClr val="2563EB"/>
            </a:solidFill>
            <a:prstDash val="solid"/>
          </a:ln>
        </p:spPr>
      </p:sp>
      <p:sp>
        <p:nvSpPr>
          <p:cNvPr id="20" name="Text 18"/>
          <p:cNvSpPr/>
          <p:nvPr/>
        </p:nvSpPr>
        <p:spPr>
          <a:xfrm>
            <a:off x="2432304" y="3566160"/>
            <a:ext cx="2011680" cy="566928"/>
          </a:xfrm>
          <a:prstGeom prst="rect">
            <a:avLst/>
          </a:prstGeom>
          <a:noFill/>
          <a:ln/>
        </p:spPr>
        <p:txBody>
          <a:bodyPr wrap="square" rtlCol="0" anchor="ctr"/>
          <a:lstStyle/>
          <a:p>
            <a:pPr marL="0" indent="0" algn="ctr">
              <a:buNone/>
            </a:pPr>
            <a:r>
              <a:rPr lang="en-US" sz="2000" b="1" dirty="0">
                <a:solidFill>
                  <a:srgbClr val="2563EB"/>
                </a:solidFill>
                <a:latin typeface="Calibri" pitchFamily="34" charset="0"/>
                <a:ea typeface="Calibri" pitchFamily="34" charset="-122"/>
                <a:cs typeface="Calibri" pitchFamily="34" charset="-120"/>
              </a:rPr>
              <a:t>CUSUM</a:t>
            </a:r>
            <a:endParaRPr lang="en-US" sz="2000" dirty="0"/>
          </a:p>
        </p:txBody>
      </p:sp>
      <p:sp>
        <p:nvSpPr>
          <p:cNvPr id="21" name="Text 19"/>
          <p:cNvSpPr/>
          <p:nvPr/>
        </p:nvSpPr>
        <p:spPr>
          <a:xfrm>
            <a:off x="2432304" y="4133088"/>
            <a:ext cx="2011680" cy="438912"/>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Core</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Algorithm</a:t>
            </a:r>
            <a:endParaRPr lang="en-US" sz="1000" dirty="0"/>
          </a:p>
        </p:txBody>
      </p:sp>
      <p:sp>
        <p:nvSpPr>
          <p:cNvPr id="22" name="Shape 20"/>
          <p:cNvSpPr/>
          <p:nvPr/>
        </p:nvSpPr>
        <p:spPr>
          <a:xfrm>
            <a:off x="4608576" y="3511296"/>
            <a:ext cx="2011680" cy="1115568"/>
          </a:xfrm>
          <a:prstGeom prst="rect">
            <a:avLst/>
          </a:prstGeom>
          <a:solidFill>
            <a:srgbClr val="FFFFFF"/>
          </a:solidFill>
          <a:ln w="15240">
            <a:solidFill>
              <a:srgbClr val="2563EB"/>
            </a:solidFill>
            <a:prstDash val="solid"/>
          </a:ln>
          <a:effectLst>
            <a:outerShdw blurRad="76200" dist="25400" dir="8100000" algn="bl" rotWithShape="0">
              <a:srgbClr val="000000">
                <a:alpha val="10000"/>
              </a:srgbClr>
            </a:outerShdw>
          </a:effectLst>
        </p:spPr>
      </p:sp>
      <p:sp>
        <p:nvSpPr>
          <p:cNvPr id="23" name="Shape 21"/>
          <p:cNvSpPr/>
          <p:nvPr/>
        </p:nvSpPr>
        <p:spPr>
          <a:xfrm>
            <a:off x="4608576" y="3511296"/>
            <a:ext cx="2011680" cy="54864"/>
          </a:xfrm>
          <a:prstGeom prst="rect">
            <a:avLst/>
          </a:prstGeom>
          <a:solidFill>
            <a:srgbClr val="2563EB"/>
          </a:solidFill>
          <a:ln w="12700">
            <a:solidFill>
              <a:srgbClr val="2563EB"/>
            </a:solidFill>
            <a:prstDash val="solid"/>
          </a:ln>
        </p:spPr>
      </p:sp>
      <p:sp>
        <p:nvSpPr>
          <p:cNvPr id="24" name="Text 22"/>
          <p:cNvSpPr/>
          <p:nvPr/>
        </p:nvSpPr>
        <p:spPr>
          <a:xfrm>
            <a:off x="4608576" y="3566160"/>
            <a:ext cx="2011680" cy="566928"/>
          </a:xfrm>
          <a:prstGeom prst="rect">
            <a:avLst/>
          </a:prstGeom>
          <a:noFill/>
          <a:ln/>
        </p:spPr>
        <p:txBody>
          <a:bodyPr wrap="square" rtlCol="0" anchor="ctr"/>
          <a:lstStyle/>
          <a:p>
            <a:pPr marL="0" indent="0" algn="ctr">
              <a:buNone/>
            </a:pPr>
            <a:r>
              <a:rPr lang="en-US" sz="2000" b="1" dirty="0">
                <a:solidFill>
                  <a:srgbClr val="2563EB"/>
                </a:solidFill>
                <a:latin typeface="Calibri" pitchFamily="34" charset="0"/>
                <a:ea typeface="Calibri" pitchFamily="34" charset="-122"/>
                <a:cs typeface="Calibri" pitchFamily="34" charset="-120"/>
              </a:rPr>
              <a:t>Real-Time</a:t>
            </a:r>
            <a:endParaRPr lang="en-US" sz="2000" dirty="0"/>
          </a:p>
        </p:txBody>
      </p:sp>
      <p:sp>
        <p:nvSpPr>
          <p:cNvPr id="25" name="Text 23"/>
          <p:cNvSpPr/>
          <p:nvPr/>
        </p:nvSpPr>
        <p:spPr>
          <a:xfrm>
            <a:off x="4608576" y="4133088"/>
            <a:ext cx="2011680" cy="438912"/>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Attack</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Monitoring</a:t>
            </a:r>
            <a:endParaRPr lang="en-US" sz="1000" dirty="0"/>
          </a:p>
        </p:txBody>
      </p:sp>
      <p:sp>
        <p:nvSpPr>
          <p:cNvPr id="26" name="Shape 24"/>
          <p:cNvSpPr/>
          <p:nvPr/>
        </p:nvSpPr>
        <p:spPr>
          <a:xfrm>
            <a:off x="6784848" y="3511296"/>
            <a:ext cx="2011680" cy="1115568"/>
          </a:xfrm>
          <a:prstGeom prst="rect">
            <a:avLst/>
          </a:prstGeom>
          <a:solidFill>
            <a:srgbClr val="FFFFFF"/>
          </a:solidFill>
          <a:ln w="15240">
            <a:solidFill>
              <a:srgbClr val="2563EB"/>
            </a:solidFill>
            <a:prstDash val="solid"/>
          </a:ln>
          <a:effectLst>
            <a:outerShdw blurRad="76200" dist="25400" dir="8100000" algn="bl" rotWithShape="0">
              <a:srgbClr val="000000">
                <a:alpha val="10000"/>
              </a:srgbClr>
            </a:outerShdw>
          </a:effectLst>
        </p:spPr>
      </p:sp>
      <p:sp>
        <p:nvSpPr>
          <p:cNvPr id="27" name="Shape 25"/>
          <p:cNvSpPr/>
          <p:nvPr/>
        </p:nvSpPr>
        <p:spPr>
          <a:xfrm>
            <a:off x="6784848" y="3511296"/>
            <a:ext cx="2011680" cy="54864"/>
          </a:xfrm>
          <a:prstGeom prst="rect">
            <a:avLst/>
          </a:prstGeom>
          <a:solidFill>
            <a:srgbClr val="2563EB"/>
          </a:solidFill>
          <a:ln w="12700">
            <a:solidFill>
              <a:srgbClr val="2563EB"/>
            </a:solidFill>
            <a:prstDash val="solid"/>
          </a:ln>
        </p:spPr>
      </p:sp>
      <p:sp>
        <p:nvSpPr>
          <p:cNvPr id="28" name="Text 26"/>
          <p:cNvSpPr/>
          <p:nvPr/>
        </p:nvSpPr>
        <p:spPr>
          <a:xfrm>
            <a:off x="6784848" y="3566160"/>
            <a:ext cx="2011680" cy="566928"/>
          </a:xfrm>
          <a:prstGeom prst="rect">
            <a:avLst/>
          </a:prstGeom>
          <a:noFill/>
          <a:ln/>
        </p:spPr>
        <p:txBody>
          <a:bodyPr wrap="square" rtlCol="0" anchor="ctr"/>
          <a:lstStyle/>
          <a:p>
            <a:pPr marL="0" indent="0" algn="ctr">
              <a:buNone/>
            </a:pPr>
            <a:r>
              <a:rPr lang="en-US" sz="2000" b="1" dirty="0">
                <a:solidFill>
                  <a:srgbClr val="2563EB"/>
                </a:solidFill>
                <a:latin typeface="Calibri" pitchFamily="34" charset="0"/>
                <a:ea typeface="Calibri" pitchFamily="34" charset="-122"/>
                <a:cs typeface="Calibri" pitchFamily="34" charset="-120"/>
              </a:rPr>
              <a:t>Low FPR</a:t>
            </a:r>
            <a:endParaRPr lang="en-US" sz="2000" dirty="0"/>
          </a:p>
        </p:txBody>
      </p:sp>
      <p:sp>
        <p:nvSpPr>
          <p:cNvPr id="29" name="Text 27"/>
          <p:cNvSpPr/>
          <p:nvPr/>
        </p:nvSpPr>
        <p:spPr>
          <a:xfrm>
            <a:off x="6784848" y="4133088"/>
            <a:ext cx="2011680" cy="438912"/>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False</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Positive Rate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b.  Existing System</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3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Shape 6"/>
          <p:cNvSpPr/>
          <p:nvPr/>
        </p:nvSpPr>
        <p:spPr>
          <a:xfrm>
            <a:off x="256032" y="822960"/>
            <a:ext cx="4251960" cy="120700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9" name="Shape 7"/>
          <p:cNvSpPr/>
          <p:nvPr/>
        </p:nvSpPr>
        <p:spPr>
          <a:xfrm>
            <a:off x="256032" y="822960"/>
            <a:ext cx="82296" cy="1207008"/>
          </a:xfrm>
          <a:prstGeom prst="rect">
            <a:avLst/>
          </a:prstGeom>
          <a:solidFill>
            <a:srgbClr val="2563EB"/>
          </a:solidFill>
          <a:ln w="12700">
            <a:solidFill>
              <a:srgbClr val="2563EB"/>
            </a:solidFill>
            <a:prstDash val="solid"/>
          </a:ln>
        </p:spPr>
      </p:sp>
      <p:sp>
        <p:nvSpPr>
          <p:cNvPr id="10" name="Text 8"/>
          <p:cNvSpPr/>
          <p:nvPr/>
        </p:nvSpPr>
        <p:spPr>
          <a:xfrm>
            <a:off x="420624" y="877824"/>
            <a:ext cx="3968496" cy="347472"/>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Signature-Based IDS</a:t>
            </a:r>
            <a:endParaRPr lang="en-US" sz="1200" dirty="0"/>
          </a:p>
        </p:txBody>
      </p:sp>
      <p:sp>
        <p:nvSpPr>
          <p:cNvPr id="11" name="Text 9"/>
          <p:cNvSpPr/>
          <p:nvPr/>
        </p:nvSpPr>
        <p:spPr>
          <a:xfrm>
            <a:off x="420624" y="1225296"/>
            <a:ext cx="3968496" cy="7132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Matches traffic against known attack patterns. Cannot detect new or unknown threats — fails against zero-day attacks.</a:t>
            </a:r>
            <a:endParaRPr lang="en-US" sz="1050" dirty="0"/>
          </a:p>
        </p:txBody>
      </p:sp>
      <p:sp>
        <p:nvSpPr>
          <p:cNvPr id="12" name="Shape 10"/>
          <p:cNvSpPr/>
          <p:nvPr/>
        </p:nvSpPr>
        <p:spPr>
          <a:xfrm>
            <a:off x="4718304" y="822960"/>
            <a:ext cx="4251960" cy="120700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3" name="Shape 11"/>
          <p:cNvSpPr/>
          <p:nvPr/>
        </p:nvSpPr>
        <p:spPr>
          <a:xfrm>
            <a:off x="4718304" y="822960"/>
            <a:ext cx="82296" cy="1207008"/>
          </a:xfrm>
          <a:prstGeom prst="rect">
            <a:avLst/>
          </a:prstGeom>
          <a:solidFill>
            <a:srgbClr val="2563EB"/>
          </a:solidFill>
          <a:ln w="12700">
            <a:solidFill>
              <a:srgbClr val="2563EB"/>
            </a:solidFill>
            <a:prstDash val="solid"/>
          </a:ln>
        </p:spPr>
      </p:sp>
      <p:sp>
        <p:nvSpPr>
          <p:cNvPr id="14" name="Text 12"/>
          <p:cNvSpPr/>
          <p:nvPr/>
        </p:nvSpPr>
        <p:spPr>
          <a:xfrm>
            <a:off x="4882896" y="877824"/>
            <a:ext cx="3968496" cy="347472"/>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IP Blacklisting</a:t>
            </a:r>
            <a:endParaRPr lang="en-US" sz="1200" dirty="0"/>
          </a:p>
        </p:txBody>
      </p:sp>
      <p:sp>
        <p:nvSpPr>
          <p:cNvPr id="15" name="Text 13"/>
          <p:cNvSpPr/>
          <p:nvPr/>
        </p:nvSpPr>
        <p:spPr>
          <a:xfrm>
            <a:off x="4882896" y="1225296"/>
            <a:ext cx="3968496" cy="7132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Blocks traffic from known malicious IPs. Useless in DDoS since thousands of spoofed IPs are used simultaneously.</a:t>
            </a:r>
            <a:endParaRPr lang="en-US" sz="1050" dirty="0"/>
          </a:p>
        </p:txBody>
      </p:sp>
      <p:sp>
        <p:nvSpPr>
          <p:cNvPr id="16" name="Shape 14"/>
          <p:cNvSpPr/>
          <p:nvPr/>
        </p:nvSpPr>
        <p:spPr>
          <a:xfrm>
            <a:off x="256032" y="2157984"/>
            <a:ext cx="4251960" cy="120700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7" name="Shape 15"/>
          <p:cNvSpPr/>
          <p:nvPr/>
        </p:nvSpPr>
        <p:spPr>
          <a:xfrm>
            <a:off x="256032" y="2157984"/>
            <a:ext cx="82296" cy="1207008"/>
          </a:xfrm>
          <a:prstGeom prst="rect">
            <a:avLst/>
          </a:prstGeom>
          <a:solidFill>
            <a:srgbClr val="2563EB"/>
          </a:solidFill>
          <a:ln w="12700">
            <a:solidFill>
              <a:srgbClr val="2563EB"/>
            </a:solidFill>
            <a:prstDash val="solid"/>
          </a:ln>
        </p:spPr>
      </p:sp>
      <p:sp>
        <p:nvSpPr>
          <p:cNvPr id="18" name="Text 16"/>
          <p:cNvSpPr/>
          <p:nvPr/>
        </p:nvSpPr>
        <p:spPr>
          <a:xfrm>
            <a:off x="420624" y="2212848"/>
            <a:ext cx="3968496" cy="347472"/>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Rate Limiting</a:t>
            </a:r>
            <a:endParaRPr lang="en-US" sz="1200" dirty="0"/>
          </a:p>
        </p:txBody>
      </p:sp>
      <p:sp>
        <p:nvSpPr>
          <p:cNvPr id="19" name="Text 17"/>
          <p:cNvSpPr/>
          <p:nvPr/>
        </p:nvSpPr>
        <p:spPr>
          <a:xfrm>
            <a:off x="420624" y="2560320"/>
            <a:ext cx="3968496" cy="7132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Restricts traffic volume per source. Introduces latency for real users while attackers bypass it easily.</a:t>
            </a:r>
            <a:endParaRPr lang="en-US" sz="1050" dirty="0"/>
          </a:p>
        </p:txBody>
      </p:sp>
      <p:sp>
        <p:nvSpPr>
          <p:cNvPr id="20" name="Shape 18"/>
          <p:cNvSpPr/>
          <p:nvPr/>
        </p:nvSpPr>
        <p:spPr>
          <a:xfrm>
            <a:off x="4718304" y="2157984"/>
            <a:ext cx="4251960" cy="120700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1" name="Shape 19"/>
          <p:cNvSpPr/>
          <p:nvPr/>
        </p:nvSpPr>
        <p:spPr>
          <a:xfrm>
            <a:off x="4718304" y="2157984"/>
            <a:ext cx="82296" cy="1207008"/>
          </a:xfrm>
          <a:prstGeom prst="rect">
            <a:avLst/>
          </a:prstGeom>
          <a:solidFill>
            <a:srgbClr val="2563EB"/>
          </a:solidFill>
          <a:ln w="12700">
            <a:solidFill>
              <a:srgbClr val="2563EB"/>
            </a:solidFill>
            <a:prstDash val="solid"/>
          </a:ln>
        </p:spPr>
      </p:sp>
      <p:sp>
        <p:nvSpPr>
          <p:cNvPr id="22" name="Text 20"/>
          <p:cNvSpPr/>
          <p:nvPr/>
        </p:nvSpPr>
        <p:spPr>
          <a:xfrm>
            <a:off x="4882896" y="2212848"/>
            <a:ext cx="3968496" cy="347472"/>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Statistical Anomaly Systems</a:t>
            </a:r>
            <a:endParaRPr lang="en-US" sz="1200" dirty="0"/>
          </a:p>
        </p:txBody>
      </p:sp>
      <p:sp>
        <p:nvSpPr>
          <p:cNvPr id="23" name="Text 21"/>
          <p:cNvSpPr/>
          <p:nvPr/>
        </p:nvSpPr>
        <p:spPr>
          <a:xfrm>
            <a:off x="4882896" y="2560320"/>
            <a:ext cx="3968496" cy="7132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Analyzes traffic volume deviations. Limited capability in detecting new, complex or multi-vector attacks.</a:t>
            </a:r>
            <a:endParaRPr lang="en-US" sz="1050" dirty="0"/>
          </a:p>
        </p:txBody>
      </p:sp>
      <p:sp>
        <p:nvSpPr>
          <p:cNvPr id="24" name="Shape 22"/>
          <p:cNvSpPr/>
          <p:nvPr/>
        </p:nvSpPr>
        <p:spPr>
          <a:xfrm>
            <a:off x="256032" y="3493008"/>
            <a:ext cx="4251960" cy="120700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5" name="Shape 23"/>
          <p:cNvSpPr/>
          <p:nvPr/>
        </p:nvSpPr>
        <p:spPr>
          <a:xfrm>
            <a:off x="256032" y="3493008"/>
            <a:ext cx="82296" cy="1207008"/>
          </a:xfrm>
          <a:prstGeom prst="rect">
            <a:avLst/>
          </a:prstGeom>
          <a:solidFill>
            <a:srgbClr val="2563EB"/>
          </a:solidFill>
          <a:ln w="12700">
            <a:solidFill>
              <a:srgbClr val="2563EB"/>
            </a:solidFill>
            <a:prstDash val="solid"/>
          </a:ln>
        </p:spPr>
      </p:sp>
      <p:sp>
        <p:nvSpPr>
          <p:cNvPr id="26" name="Text 24"/>
          <p:cNvSpPr/>
          <p:nvPr/>
        </p:nvSpPr>
        <p:spPr>
          <a:xfrm>
            <a:off x="420624" y="3547872"/>
            <a:ext cx="3968496" cy="347472"/>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ML-Based Classifiers (SVM, RF)</a:t>
            </a:r>
            <a:endParaRPr lang="en-US" sz="1200" dirty="0"/>
          </a:p>
        </p:txBody>
      </p:sp>
      <p:sp>
        <p:nvSpPr>
          <p:cNvPr id="27" name="Text 25"/>
          <p:cNvSpPr/>
          <p:nvPr/>
        </p:nvSpPr>
        <p:spPr>
          <a:xfrm>
            <a:off x="420624" y="3895344"/>
            <a:ext cx="3968496" cy="7132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Train on labelled datasets to classify traffic. Require large data, heavy computation and don't adapt well.</a:t>
            </a:r>
            <a:endParaRPr lang="en-US" sz="1050" dirty="0"/>
          </a:p>
        </p:txBody>
      </p:sp>
      <p:sp>
        <p:nvSpPr>
          <p:cNvPr id="28" name="Shape 26"/>
          <p:cNvSpPr/>
          <p:nvPr/>
        </p:nvSpPr>
        <p:spPr>
          <a:xfrm>
            <a:off x="4718304" y="3493008"/>
            <a:ext cx="4251960" cy="120700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9" name="Shape 27"/>
          <p:cNvSpPr/>
          <p:nvPr/>
        </p:nvSpPr>
        <p:spPr>
          <a:xfrm>
            <a:off x="4718304" y="3493008"/>
            <a:ext cx="82296" cy="1207008"/>
          </a:xfrm>
          <a:prstGeom prst="rect">
            <a:avLst/>
          </a:prstGeom>
          <a:solidFill>
            <a:srgbClr val="2563EB"/>
          </a:solidFill>
          <a:ln w="12700">
            <a:solidFill>
              <a:srgbClr val="2563EB"/>
            </a:solidFill>
            <a:prstDash val="solid"/>
          </a:ln>
        </p:spPr>
      </p:sp>
      <p:sp>
        <p:nvSpPr>
          <p:cNvPr id="30" name="Text 28"/>
          <p:cNvSpPr/>
          <p:nvPr/>
        </p:nvSpPr>
        <p:spPr>
          <a:xfrm>
            <a:off x="4882896" y="3547872"/>
            <a:ext cx="3968496" cy="347472"/>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Hybrid Statistical Models</a:t>
            </a:r>
            <a:endParaRPr lang="en-US" sz="1200" dirty="0"/>
          </a:p>
        </p:txBody>
      </p:sp>
      <p:sp>
        <p:nvSpPr>
          <p:cNvPr id="31" name="Text 29"/>
          <p:cNvSpPr/>
          <p:nvPr/>
        </p:nvSpPr>
        <p:spPr>
          <a:xfrm>
            <a:off x="4882896" y="3895344"/>
            <a:ext cx="3968496" cy="7132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Combine entropy + ML. Better performance but high system complexity and computational overhead.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a:t>
            </a:r>
            <a:r>
              <a:rPr lang="en-US" sz="2100" b="1">
                <a:solidFill>
                  <a:srgbClr val="FFFFFF"/>
                </a:solidFill>
                <a:latin typeface="Calibri" pitchFamily="34" charset="0"/>
                <a:ea typeface="Calibri" pitchFamily="34" charset="-122"/>
                <a:cs typeface="Calibri" pitchFamily="34" charset="-120"/>
              </a:rPr>
              <a:t>. Limitations of </a:t>
            </a:r>
            <a:r>
              <a:rPr lang="en-US" sz="2100" b="1" dirty="0">
                <a:solidFill>
                  <a:srgbClr val="FFFFFF"/>
                </a:solidFill>
                <a:latin typeface="Calibri" pitchFamily="34" charset="0"/>
                <a:ea typeface="Calibri" pitchFamily="34" charset="-122"/>
                <a:cs typeface="Calibri" pitchFamily="34" charset="-120"/>
              </a:rPr>
              <a:t>Existing Systems</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4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Text 6"/>
          <p:cNvSpPr/>
          <p:nvPr/>
        </p:nvSpPr>
        <p:spPr>
          <a:xfrm>
            <a:off x="365760" y="804672"/>
            <a:ext cx="8229600" cy="329184"/>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Key Limitations of Existing Approaches:</a:t>
            </a:r>
            <a:endParaRPr lang="en-US" sz="1300" dirty="0"/>
          </a:p>
        </p:txBody>
      </p:sp>
      <p:sp>
        <p:nvSpPr>
          <p:cNvPr id="9" name="Shape 7"/>
          <p:cNvSpPr/>
          <p:nvPr/>
        </p:nvSpPr>
        <p:spPr>
          <a:xfrm>
            <a:off x="256032" y="1207008"/>
            <a:ext cx="4251960" cy="749808"/>
          </a:xfrm>
          <a:prstGeom prst="rect">
            <a:avLst/>
          </a:prstGeom>
          <a:solidFill>
            <a:srgbClr val="FEF2F2"/>
          </a:solidFill>
          <a:ln w="10160">
            <a:solidFill>
              <a:srgbClr val="FECACA"/>
            </a:solidFill>
            <a:prstDash val="solid"/>
          </a:ln>
        </p:spPr>
      </p:sp>
      <p:sp>
        <p:nvSpPr>
          <p:cNvPr id="10" name="Shape 8"/>
          <p:cNvSpPr/>
          <p:nvPr/>
        </p:nvSpPr>
        <p:spPr>
          <a:xfrm>
            <a:off x="256032" y="1207008"/>
            <a:ext cx="82296" cy="749808"/>
          </a:xfrm>
          <a:prstGeom prst="rect">
            <a:avLst/>
          </a:prstGeom>
          <a:solidFill>
            <a:srgbClr val="DC2626"/>
          </a:solidFill>
          <a:ln w="12700">
            <a:solidFill>
              <a:srgbClr val="DC2626"/>
            </a:solidFill>
            <a:prstDash val="solid"/>
          </a:ln>
        </p:spPr>
      </p:sp>
      <p:sp>
        <p:nvSpPr>
          <p:cNvPr id="11" name="Text 9"/>
          <p:cNvSpPr/>
          <p:nvPr/>
        </p:nvSpPr>
        <p:spPr>
          <a:xfrm>
            <a:off x="384048" y="1207008"/>
            <a:ext cx="402336" cy="749808"/>
          </a:xfrm>
          <a:prstGeom prst="rect">
            <a:avLst/>
          </a:prstGeom>
          <a:noFill/>
          <a:ln/>
        </p:spPr>
        <p:txBody>
          <a:bodyPr wrap="square" rtlCol="0" anchor="ctr"/>
          <a:lstStyle/>
          <a:p>
            <a:pPr marL="0" indent="0" algn="ctr">
              <a:buNone/>
            </a:pPr>
            <a:r>
              <a:rPr lang="en-US" sz="1400" dirty="0">
                <a:solidFill>
                  <a:srgbClr val="DC262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786384" y="1280160"/>
            <a:ext cx="3621024" cy="6035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Cannot detect unknown or new DDoS attack patterns (zero-day attacks)</a:t>
            </a:r>
            <a:endParaRPr lang="en-US" sz="1050" dirty="0"/>
          </a:p>
        </p:txBody>
      </p:sp>
      <p:sp>
        <p:nvSpPr>
          <p:cNvPr id="13" name="Shape 11"/>
          <p:cNvSpPr/>
          <p:nvPr/>
        </p:nvSpPr>
        <p:spPr>
          <a:xfrm>
            <a:off x="4718304" y="1207008"/>
            <a:ext cx="4251960" cy="749808"/>
          </a:xfrm>
          <a:prstGeom prst="rect">
            <a:avLst/>
          </a:prstGeom>
          <a:solidFill>
            <a:srgbClr val="FEF2F2"/>
          </a:solidFill>
          <a:ln w="10160">
            <a:solidFill>
              <a:srgbClr val="FECACA"/>
            </a:solidFill>
            <a:prstDash val="solid"/>
          </a:ln>
        </p:spPr>
      </p:sp>
      <p:sp>
        <p:nvSpPr>
          <p:cNvPr id="14" name="Shape 12"/>
          <p:cNvSpPr/>
          <p:nvPr/>
        </p:nvSpPr>
        <p:spPr>
          <a:xfrm>
            <a:off x="4718304" y="1207008"/>
            <a:ext cx="82296" cy="749808"/>
          </a:xfrm>
          <a:prstGeom prst="rect">
            <a:avLst/>
          </a:prstGeom>
          <a:solidFill>
            <a:srgbClr val="DC2626"/>
          </a:solidFill>
          <a:ln w="12700">
            <a:solidFill>
              <a:srgbClr val="DC2626"/>
            </a:solidFill>
            <a:prstDash val="solid"/>
          </a:ln>
        </p:spPr>
      </p:sp>
      <p:sp>
        <p:nvSpPr>
          <p:cNvPr id="15" name="Text 13"/>
          <p:cNvSpPr/>
          <p:nvPr/>
        </p:nvSpPr>
        <p:spPr>
          <a:xfrm>
            <a:off x="4846320" y="1207008"/>
            <a:ext cx="402336" cy="749808"/>
          </a:xfrm>
          <a:prstGeom prst="rect">
            <a:avLst/>
          </a:prstGeom>
          <a:noFill/>
          <a:ln/>
        </p:spPr>
        <p:txBody>
          <a:bodyPr wrap="square" rtlCol="0" anchor="ctr"/>
          <a:lstStyle/>
          <a:p>
            <a:pPr marL="0" indent="0" algn="ctr">
              <a:buNone/>
            </a:pPr>
            <a:r>
              <a:rPr lang="en-US" sz="1400" dirty="0">
                <a:solidFill>
                  <a:srgbClr val="DC2626"/>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5248656" y="1280160"/>
            <a:ext cx="3621024" cy="6035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High false positive rates — legitimate traffic spikes misclassified as attacks</a:t>
            </a:r>
            <a:endParaRPr lang="en-US" sz="1050" dirty="0"/>
          </a:p>
        </p:txBody>
      </p:sp>
      <p:sp>
        <p:nvSpPr>
          <p:cNvPr id="17" name="Shape 15"/>
          <p:cNvSpPr/>
          <p:nvPr/>
        </p:nvSpPr>
        <p:spPr>
          <a:xfrm>
            <a:off x="256032" y="2093976"/>
            <a:ext cx="4251960" cy="749808"/>
          </a:xfrm>
          <a:prstGeom prst="rect">
            <a:avLst/>
          </a:prstGeom>
          <a:solidFill>
            <a:srgbClr val="FEF2F2"/>
          </a:solidFill>
          <a:ln w="10160">
            <a:solidFill>
              <a:srgbClr val="FECACA"/>
            </a:solidFill>
            <a:prstDash val="solid"/>
          </a:ln>
        </p:spPr>
      </p:sp>
      <p:sp>
        <p:nvSpPr>
          <p:cNvPr id="18" name="Shape 16"/>
          <p:cNvSpPr/>
          <p:nvPr/>
        </p:nvSpPr>
        <p:spPr>
          <a:xfrm>
            <a:off x="256032" y="2093976"/>
            <a:ext cx="82296" cy="749808"/>
          </a:xfrm>
          <a:prstGeom prst="rect">
            <a:avLst/>
          </a:prstGeom>
          <a:solidFill>
            <a:srgbClr val="DC2626"/>
          </a:solidFill>
          <a:ln w="12700">
            <a:solidFill>
              <a:srgbClr val="DC2626"/>
            </a:solidFill>
            <a:prstDash val="solid"/>
          </a:ln>
        </p:spPr>
      </p:sp>
      <p:sp>
        <p:nvSpPr>
          <p:cNvPr id="19" name="Text 17"/>
          <p:cNvSpPr/>
          <p:nvPr/>
        </p:nvSpPr>
        <p:spPr>
          <a:xfrm>
            <a:off x="384048" y="2093976"/>
            <a:ext cx="402336" cy="749808"/>
          </a:xfrm>
          <a:prstGeom prst="rect">
            <a:avLst/>
          </a:prstGeom>
          <a:noFill/>
          <a:ln/>
        </p:spPr>
        <p:txBody>
          <a:bodyPr wrap="square" rtlCol="0" anchor="ctr"/>
          <a:lstStyle/>
          <a:p>
            <a:pPr marL="0" indent="0" algn="ctr">
              <a:buNone/>
            </a:pPr>
            <a:r>
              <a:rPr lang="en-US" sz="1400" dirty="0">
                <a:solidFill>
                  <a:srgbClr val="DC2626"/>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786384" y="2167128"/>
            <a:ext cx="3621024" cy="6035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Poor scalability for large-scale or cloud-based network environments</a:t>
            </a:r>
            <a:endParaRPr lang="en-US" sz="1050" dirty="0"/>
          </a:p>
        </p:txBody>
      </p:sp>
      <p:sp>
        <p:nvSpPr>
          <p:cNvPr id="21" name="Shape 19"/>
          <p:cNvSpPr/>
          <p:nvPr/>
        </p:nvSpPr>
        <p:spPr>
          <a:xfrm>
            <a:off x="4718304" y="2093976"/>
            <a:ext cx="4251960" cy="749808"/>
          </a:xfrm>
          <a:prstGeom prst="rect">
            <a:avLst/>
          </a:prstGeom>
          <a:solidFill>
            <a:srgbClr val="FEF2F2"/>
          </a:solidFill>
          <a:ln w="10160">
            <a:solidFill>
              <a:srgbClr val="FECACA"/>
            </a:solidFill>
            <a:prstDash val="solid"/>
          </a:ln>
        </p:spPr>
      </p:sp>
      <p:sp>
        <p:nvSpPr>
          <p:cNvPr id="22" name="Shape 20"/>
          <p:cNvSpPr/>
          <p:nvPr/>
        </p:nvSpPr>
        <p:spPr>
          <a:xfrm>
            <a:off x="4718304" y="2093976"/>
            <a:ext cx="82296" cy="749808"/>
          </a:xfrm>
          <a:prstGeom prst="rect">
            <a:avLst/>
          </a:prstGeom>
          <a:solidFill>
            <a:srgbClr val="DC2626"/>
          </a:solidFill>
          <a:ln w="12700">
            <a:solidFill>
              <a:srgbClr val="DC2626"/>
            </a:solidFill>
            <a:prstDash val="solid"/>
          </a:ln>
        </p:spPr>
      </p:sp>
      <p:sp>
        <p:nvSpPr>
          <p:cNvPr id="23" name="Text 21"/>
          <p:cNvSpPr/>
          <p:nvPr/>
        </p:nvSpPr>
        <p:spPr>
          <a:xfrm>
            <a:off x="4846320" y="2093976"/>
            <a:ext cx="402336" cy="749808"/>
          </a:xfrm>
          <a:prstGeom prst="rect">
            <a:avLst/>
          </a:prstGeom>
          <a:noFill/>
          <a:ln/>
        </p:spPr>
        <p:txBody>
          <a:bodyPr wrap="square" rtlCol="0" anchor="ctr"/>
          <a:lstStyle/>
          <a:p>
            <a:pPr marL="0" indent="0" algn="ctr">
              <a:buNone/>
            </a:pPr>
            <a:r>
              <a:rPr lang="en-US" sz="1400" dirty="0">
                <a:solidFill>
                  <a:srgbClr val="DC2626"/>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5248656" y="2167128"/>
            <a:ext cx="3621024" cy="6035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Heavy computational cost when processing massive real-time data streams</a:t>
            </a:r>
            <a:endParaRPr lang="en-US" sz="1050" dirty="0"/>
          </a:p>
        </p:txBody>
      </p:sp>
      <p:sp>
        <p:nvSpPr>
          <p:cNvPr id="25" name="Shape 23"/>
          <p:cNvSpPr/>
          <p:nvPr/>
        </p:nvSpPr>
        <p:spPr>
          <a:xfrm>
            <a:off x="256032" y="2980944"/>
            <a:ext cx="4251960" cy="749808"/>
          </a:xfrm>
          <a:prstGeom prst="rect">
            <a:avLst/>
          </a:prstGeom>
          <a:solidFill>
            <a:srgbClr val="FEF2F2"/>
          </a:solidFill>
          <a:ln w="10160">
            <a:solidFill>
              <a:srgbClr val="FECACA"/>
            </a:solidFill>
            <a:prstDash val="solid"/>
          </a:ln>
        </p:spPr>
      </p:sp>
      <p:sp>
        <p:nvSpPr>
          <p:cNvPr id="26" name="Shape 24"/>
          <p:cNvSpPr/>
          <p:nvPr/>
        </p:nvSpPr>
        <p:spPr>
          <a:xfrm>
            <a:off x="256032" y="2980944"/>
            <a:ext cx="82296" cy="749808"/>
          </a:xfrm>
          <a:prstGeom prst="rect">
            <a:avLst/>
          </a:prstGeom>
          <a:solidFill>
            <a:srgbClr val="DC2626"/>
          </a:solidFill>
          <a:ln w="12700">
            <a:solidFill>
              <a:srgbClr val="DC2626"/>
            </a:solidFill>
            <a:prstDash val="solid"/>
          </a:ln>
        </p:spPr>
      </p:sp>
      <p:sp>
        <p:nvSpPr>
          <p:cNvPr id="27" name="Text 25"/>
          <p:cNvSpPr/>
          <p:nvPr/>
        </p:nvSpPr>
        <p:spPr>
          <a:xfrm>
            <a:off x="384048" y="2980944"/>
            <a:ext cx="402336" cy="749808"/>
          </a:xfrm>
          <a:prstGeom prst="rect">
            <a:avLst/>
          </a:prstGeom>
          <a:noFill/>
          <a:ln/>
        </p:spPr>
        <p:txBody>
          <a:bodyPr wrap="square" rtlCol="0" anchor="ctr"/>
          <a:lstStyle/>
          <a:p>
            <a:pPr marL="0" indent="0" algn="ctr">
              <a:buNone/>
            </a:pPr>
            <a:r>
              <a:rPr lang="en-US" sz="1400" dirty="0">
                <a:solidFill>
                  <a:srgbClr val="DC2626"/>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786384" y="3054096"/>
            <a:ext cx="3621024" cy="6035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Static models fail to adapt to evolving and sophisticated DDoS techniques</a:t>
            </a:r>
            <a:endParaRPr lang="en-US" sz="1050" dirty="0"/>
          </a:p>
        </p:txBody>
      </p:sp>
      <p:sp>
        <p:nvSpPr>
          <p:cNvPr id="29" name="Shape 27"/>
          <p:cNvSpPr/>
          <p:nvPr/>
        </p:nvSpPr>
        <p:spPr>
          <a:xfrm>
            <a:off x="4718304" y="2980944"/>
            <a:ext cx="4251960" cy="749808"/>
          </a:xfrm>
          <a:prstGeom prst="rect">
            <a:avLst/>
          </a:prstGeom>
          <a:solidFill>
            <a:srgbClr val="FEF2F2"/>
          </a:solidFill>
          <a:ln w="10160">
            <a:solidFill>
              <a:srgbClr val="FECACA"/>
            </a:solidFill>
            <a:prstDash val="solid"/>
          </a:ln>
        </p:spPr>
      </p:sp>
      <p:sp>
        <p:nvSpPr>
          <p:cNvPr id="30" name="Shape 28"/>
          <p:cNvSpPr/>
          <p:nvPr/>
        </p:nvSpPr>
        <p:spPr>
          <a:xfrm>
            <a:off x="4718304" y="2980944"/>
            <a:ext cx="82296" cy="749808"/>
          </a:xfrm>
          <a:prstGeom prst="rect">
            <a:avLst/>
          </a:prstGeom>
          <a:solidFill>
            <a:srgbClr val="DC2626"/>
          </a:solidFill>
          <a:ln w="12700">
            <a:solidFill>
              <a:srgbClr val="DC2626"/>
            </a:solidFill>
            <a:prstDash val="solid"/>
          </a:ln>
        </p:spPr>
      </p:sp>
      <p:sp>
        <p:nvSpPr>
          <p:cNvPr id="31" name="Text 29"/>
          <p:cNvSpPr/>
          <p:nvPr/>
        </p:nvSpPr>
        <p:spPr>
          <a:xfrm>
            <a:off x="4846320" y="2980944"/>
            <a:ext cx="402336" cy="749808"/>
          </a:xfrm>
          <a:prstGeom prst="rect">
            <a:avLst/>
          </a:prstGeom>
          <a:noFill/>
          <a:ln/>
        </p:spPr>
        <p:txBody>
          <a:bodyPr wrap="square" rtlCol="0" anchor="ctr"/>
          <a:lstStyle/>
          <a:p>
            <a:pPr marL="0" indent="0" algn="ctr">
              <a:buNone/>
            </a:pPr>
            <a:r>
              <a:rPr lang="en-US" sz="1400" dirty="0">
                <a:solidFill>
                  <a:srgbClr val="DC2626"/>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5248656" y="3054096"/>
            <a:ext cx="3621024" cy="6035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Incorrect threshold selection leads to inaccurate entropy-based detection</a:t>
            </a:r>
            <a:endParaRPr lang="en-US" sz="1050" dirty="0"/>
          </a:p>
        </p:txBody>
      </p:sp>
      <p:sp>
        <p:nvSpPr>
          <p:cNvPr id="33" name="Shape 31"/>
          <p:cNvSpPr/>
          <p:nvPr/>
        </p:nvSpPr>
        <p:spPr>
          <a:xfrm>
            <a:off x="256032" y="3867912"/>
            <a:ext cx="4251960" cy="749808"/>
          </a:xfrm>
          <a:prstGeom prst="rect">
            <a:avLst/>
          </a:prstGeom>
          <a:solidFill>
            <a:srgbClr val="FEF2F2"/>
          </a:solidFill>
          <a:ln w="10160">
            <a:solidFill>
              <a:srgbClr val="FECACA"/>
            </a:solidFill>
            <a:prstDash val="solid"/>
          </a:ln>
        </p:spPr>
      </p:sp>
      <p:sp>
        <p:nvSpPr>
          <p:cNvPr id="34" name="Shape 32"/>
          <p:cNvSpPr/>
          <p:nvPr/>
        </p:nvSpPr>
        <p:spPr>
          <a:xfrm>
            <a:off x="256032" y="3867912"/>
            <a:ext cx="82296" cy="749808"/>
          </a:xfrm>
          <a:prstGeom prst="rect">
            <a:avLst/>
          </a:prstGeom>
          <a:solidFill>
            <a:srgbClr val="DC2626"/>
          </a:solidFill>
          <a:ln w="12700">
            <a:solidFill>
              <a:srgbClr val="DC2626"/>
            </a:solidFill>
            <a:prstDash val="solid"/>
          </a:ln>
        </p:spPr>
      </p:sp>
      <p:sp>
        <p:nvSpPr>
          <p:cNvPr id="35" name="Text 33"/>
          <p:cNvSpPr/>
          <p:nvPr/>
        </p:nvSpPr>
        <p:spPr>
          <a:xfrm>
            <a:off x="384048" y="3867912"/>
            <a:ext cx="402336" cy="749808"/>
          </a:xfrm>
          <a:prstGeom prst="rect">
            <a:avLst/>
          </a:prstGeom>
          <a:noFill/>
          <a:ln/>
        </p:spPr>
        <p:txBody>
          <a:bodyPr wrap="square" rtlCol="0" anchor="ctr"/>
          <a:lstStyle/>
          <a:p>
            <a:pPr marL="0" indent="0" algn="ctr">
              <a:buNone/>
            </a:pPr>
            <a:r>
              <a:rPr lang="en-US" sz="1400" dirty="0">
                <a:solidFill>
                  <a:srgbClr val="DC2626"/>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786384" y="3941064"/>
            <a:ext cx="3621024" cy="6035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Slow response to evolving attack strategies — requires frequent signature updates</a:t>
            </a:r>
            <a:endParaRPr lang="en-US" sz="1050" dirty="0"/>
          </a:p>
        </p:txBody>
      </p:sp>
      <p:sp>
        <p:nvSpPr>
          <p:cNvPr id="37" name="Shape 35"/>
          <p:cNvSpPr/>
          <p:nvPr/>
        </p:nvSpPr>
        <p:spPr>
          <a:xfrm>
            <a:off x="4718304" y="3867912"/>
            <a:ext cx="4251960" cy="749808"/>
          </a:xfrm>
          <a:prstGeom prst="rect">
            <a:avLst/>
          </a:prstGeom>
          <a:solidFill>
            <a:srgbClr val="FEF2F2"/>
          </a:solidFill>
          <a:ln w="10160">
            <a:solidFill>
              <a:srgbClr val="FECACA"/>
            </a:solidFill>
            <a:prstDash val="solid"/>
          </a:ln>
        </p:spPr>
      </p:sp>
      <p:sp>
        <p:nvSpPr>
          <p:cNvPr id="38" name="Shape 36"/>
          <p:cNvSpPr/>
          <p:nvPr/>
        </p:nvSpPr>
        <p:spPr>
          <a:xfrm>
            <a:off x="4718304" y="3867912"/>
            <a:ext cx="82296" cy="749808"/>
          </a:xfrm>
          <a:prstGeom prst="rect">
            <a:avLst/>
          </a:prstGeom>
          <a:solidFill>
            <a:srgbClr val="DC2626"/>
          </a:solidFill>
          <a:ln w="12700">
            <a:solidFill>
              <a:srgbClr val="DC2626"/>
            </a:solidFill>
            <a:prstDash val="solid"/>
          </a:ln>
        </p:spPr>
      </p:sp>
      <p:sp>
        <p:nvSpPr>
          <p:cNvPr id="39" name="Text 37"/>
          <p:cNvSpPr/>
          <p:nvPr/>
        </p:nvSpPr>
        <p:spPr>
          <a:xfrm>
            <a:off x="4846320" y="3867912"/>
            <a:ext cx="402336" cy="749808"/>
          </a:xfrm>
          <a:prstGeom prst="rect">
            <a:avLst/>
          </a:prstGeom>
          <a:noFill/>
          <a:ln/>
        </p:spPr>
        <p:txBody>
          <a:bodyPr wrap="square" rtlCol="0" anchor="ctr"/>
          <a:lstStyle/>
          <a:p>
            <a:pPr marL="0" indent="0" algn="ctr">
              <a:buNone/>
            </a:pPr>
            <a:r>
              <a:rPr lang="en-US" sz="1400" dirty="0">
                <a:solidFill>
                  <a:srgbClr val="DC2626"/>
                </a:solidFill>
                <a:latin typeface="Calibri" pitchFamily="34" charset="0"/>
                <a:ea typeface="Calibri" pitchFamily="34" charset="-122"/>
                <a:cs typeface="Calibri" pitchFamily="34" charset="-120"/>
              </a:rPr>
              <a:t>✗</a:t>
            </a:r>
            <a:endParaRPr lang="en-US" sz="1400" dirty="0"/>
          </a:p>
        </p:txBody>
      </p:sp>
      <p:sp>
        <p:nvSpPr>
          <p:cNvPr id="40" name="Text 38"/>
          <p:cNvSpPr/>
          <p:nvPr/>
        </p:nvSpPr>
        <p:spPr>
          <a:xfrm>
            <a:off x="5248656" y="3941064"/>
            <a:ext cx="3621024" cy="6035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IP blacklisting bypassed instantly when thousands of spoofed IPs are in use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  Proposed System</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5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Text 6"/>
          <p:cNvSpPr/>
          <p:nvPr/>
        </p:nvSpPr>
        <p:spPr>
          <a:xfrm>
            <a:off x="365760" y="804672"/>
            <a:ext cx="8412480" cy="685800"/>
          </a:xfrm>
          <a:prstGeom prst="rect">
            <a:avLst/>
          </a:prstGeom>
          <a:noFill/>
          <a:ln/>
        </p:spPr>
        <p:txBody>
          <a:bodyPr wrap="square" rtlCol="0" anchor="ctr"/>
          <a:lstStyle/>
          <a:p>
            <a:pPr marL="0" indent="0" algn="just">
              <a:buNone/>
            </a:pPr>
            <a:r>
              <a:rPr lang="en-US" sz="1250" dirty="0">
                <a:solidFill>
                  <a:srgbClr val="1A1A2E"/>
                </a:solidFill>
                <a:latin typeface="Calibri" pitchFamily="34" charset="0"/>
                <a:ea typeface="Calibri" pitchFamily="34" charset="-122"/>
                <a:cs typeface="Calibri" pitchFamily="34" charset="-120"/>
              </a:rPr>
              <a:t>We propose an AI-driven system combining Entropy Analysis with the CUSUM algorithm to detect DDoS attacks in real-time, with high accuracy and minimal false alarms — overcoming all limitations of existing methods.</a:t>
            </a:r>
            <a:endParaRPr lang="en-US" sz="1250" dirty="0"/>
          </a:p>
        </p:txBody>
      </p:sp>
      <p:sp>
        <p:nvSpPr>
          <p:cNvPr id="9" name="Shape 7"/>
          <p:cNvSpPr/>
          <p:nvPr/>
        </p:nvSpPr>
        <p:spPr>
          <a:xfrm>
            <a:off x="758952" y="1572768"/>
            <a:ext cx="713232" cy="713232"/>
          </a:xfrm>
          <a:prstGeom prst="ellipse">
            <a:avLst/>
          </a:prstGeom>
          <a:solidFill>
            <a:srgbClr val="2563EB"/>
          </a:solidFill>
          <a:ln w="12700">
            <a:solidFill>
              <a:srgbClr val="2563EB"/>
            </a:solidFill>
            <a:prstDash val="solid"/>
          </a:ln>
        </p:spPr>
      </p:sp>
      <p:sp>
        <p:nvSpPr>
          <p:cNvPr id="10" name="Text 8"/>
          <p:cNvSpPr/>
          <p:nvPr/>
        </p:nvSpPr>
        <p:spPr>
          <a:xfrm>
            <a:off x="758952" y="1572768"/>
            <a:ext cx="713232" cy="71323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Shape 9"/>
          <p:cNvSpPr/>
          <p:nvPr/>
        </p:nvSpPr>
        <p:spPr>
          <a:xfrm>
            <a:off x="1508760" y="1865376"/>
            <a:ext cx="475488" cy="137160"/>
          </a:xfrm>
          <a:prstGeom prst="rect">
            <a:avLst/>
          </a:prstGeom>
          <a:solidFill>
            <a:srgbClr val="E2E8F0"/>
          </a:solidFill>
          <a:ln w="12700">
            <a:solidFill>
              <a:srgbClr val="E2E8F0"/>
            </a:solidFill>
            <a:prstDash val="solid"/>
          </a:ln>
        </p:spPr>
      </p:sp>
      <p:sp>
        <p:nvSpPr>
          <p:cNvPr id="12" name="Shape 10"/>
          <p:cNvSpPr/>
          <p:nvPr/>
        </p:nvSpPr>
        <p:spPr>
          <a:xfrm>
            <a:off x="256032" y="2395728"/>
            <a:ext cx="1645920" cy="182880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3" name="Shape 11"/>
          <p:cNvSpPr/>
          <p:nvPr/>
        </p:nvSpPr>
        <p:spPr>
          <a:xfrm>
            <a:off x="256032" y="2395728"/>
            <a:ext cx="1645920" cy="54864"/>
          </a:xfrm>
          <a:prstGeom prst="rect">
            <a:avLst/>
          </a:prstGeom>
          <a:solidFill>
            <a:srgbClr val="2563EB"/>
          </a:solidFill>
          <a:ln w="12700">
            <a:solidFill>
              <a:srgbClr val="2563EB"/>
            </a:solidFill>
            <a:prstDash val="solid"/>
          </a:ln>
        </p:spPr>
      </p:sp>
      <p:sp>
        <p:nvSpPr>
          <p:cNvPr id="14" name="Text 12"/>
          <p:cNvSpPr/>
          <p:nvPr/>
        </p:nvSpPr>
        <p:spPr>
          <a:xfrm>
            <a:off x="301752" y="2468880"/>
            <a:ext cx="1554480" cy="475488"/>
          </a:xfrm>
          <a:prstGeom prst="rect">
            <a:avLst/>
          </a:prstGeom>
          <a:noFill/>
          <a:ln/>
        </p:spPr>
        <p:txBody>
          <a:bodyPr wrap="square"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Collect Data</a:t>
            </a:r>
            <a:endParaRPr lang="en-US" sz="1050" dirty="0"/>
          </a:p>
        </p:txBody>
      </p:sp>
      <p:sp>
        <p:nvSpPr>
          <p:cNvPr id="15" name="Text 13"/>
          <p:cNvSpPr/>
          <p:nvPr/>
        </p:nvSpPr>
        <p:spPr>
          <a:xfrm>
            <a:off x="320040" y="2980944"/>
            <a:ext cx="1517904" cy="118872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Capture network traffic from CSV / NetFlow / PCAP files in real-time.</a:t>
            </a:r>
            <a:endParaRPr lang="en-US" sz="950" dirty="0"/>
          </a:p>
        </p:txBody>
      </p:sp>
      <p:sp>
        <p:nvSpPr>
          <p:cNvPr id="16" name="Shape 14"/>
          <p:cNvSpPr/>
          <p:nvPr/>
        </p:nvSpPr>
        <p:spPr>
          <a:xfrm>
            <a:off x="2496312" y="1572768"/>
            <a:ext cx="713232" cy="713232"/>
          </a:xfrm>
          <a:prstGeom prst="ellipse">
            <a:avLst/>
          </a:prstGeom>
          <a:solidFill>
            <a:srgbClr val="2563EB"/>
          </a:solidFill>
          <a:ln w="12700">
            <a:solidFill>
              <a:srgbClr val="2563EB"/>
            </a:solidFill>
            <a:prstDash val="solid"/>
          </a:ln>
        </p:spPr>
      </p:sp>
      <p:sp>
        <p:nvSpPr>
          <p:cNvPr id="17" name="Text 15"/>
          <p:cNvSpPr/>
          <p:nvPr/>
        </p:nvSpPr>
        <p:spPr>
          <a:xfrm>
            <a:off x="2496312" y="1572768"/>
            <a:ext cx="713232" cy="71323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Shape 16"/>
          <p:cNvSpPr/>
          <p:nvPr/>
        </p:nvSpPr>
        <p:spPr>
          <a:xfrm>
            <a:off x="3246120" y="1865376"/>
            <a:ext cx="475488" cy="137160"/>
          </a:xfrm>
          <a:prstGeom prst="rect">
            <a:avLst/>
          </a:prstGeom>
          <a:solidFill>
            <a:srgbClr val="E2E8F0"/>
          </a:solidFill>
          <a:ln w="12700">
            <a:solidFill>
              <a:srgbClr val="E2E8F0"/>
            </a:solidFill>
            <a:prstDash val="solid"/>
          </a:ln>
        </p:spPr>
      </p:sp>
      <p:sp>
        <p:nvSpPr>
          <p:cNvPr id="19" name="Shape 17"/>
          <p:cNvSpPr/>
          <p:nvPr/>
        </p:nvSpPr>
        <p:spPr>
          <a:xfrm>
            <a:off x="1993392" y="2395728"/>
            <a:ext cx="1645920" cy="182880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0" name="Shape 18"/>
          <p:cNvSpPr/>
          <p:nvPr/>
        </p:nvSpPr>
        <p:spPr>
          <a:xfrm>
            <a:off x="1993392" y="2395728"/>
            <a:ext cx="1645920" cy="54864"/>
          </a:xfrm>
          <a:prstGeom prst="rect">
            <a:avLst/>
          </a:prstGeom>
          <a:solidFill>
            <a:srgbClr val="2563EB"/>
          </a:solidFill>
          <a:ln w="12700">
            <a:solidFill>
              <a:srgbClr val="2563EB"/>
            </a:solidFill>
            <a:prstDash val="solid"/>
          </a:ln>
        </p:spPr>
      </p:sp>
      <p:sp>
        <p:nvSpPr>
          <p:cNvPr id="21" name="Text 19"/>
          <p:cNvSpPr/>
          <p:nvPr/>
        </p:nvSpPr>
        <p:spPr>
          <a:xfrm>
            <a:off x="2039112" y="2468880"/>
            <a:ext cx="1554480" cy="475488"/>
          </a:xfrm>
          <a:prstGeom prst="rect">
            <a:avLst/>
          </a:prstGeom>
          <a:noFill/>
          <a:ln/>
        </p:spPr>
        <p:txBody>
          <a:bodyPr wrap="square"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Preprocess</a:t>
            </a:r>
            <a:endParaRPr lang="en-US" sz="1050" dirty="0"/>
          </a:p>
        </p:txBody>
      </p:sp>
      <p:sp>
        <p:nvSpPr>
          <p:cNvPr id="22" name="Text 20"/>
          <p:cNvSpPr/>
          <p:nvPr/>
        </p:nvSpPr>
        <p:spPr>
          <a:xfrm>
            <a:off x="2057400" y="2980944"/>
            <a:ext cx="1517904" cy="118872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Extract key features (IP, port, packet size, protocol) and normalize.</a:t>
            </a:r>
            <a:endParaRPr lang="en-US" sz="950" dirty="0"/>
          </a:p>
        </p:txBody>
      </p:sp>
      <p:sp>
        <p:nvSpPr>
          <p:cNvPr id="23" name="Shape 21"/>
          <p:cNvSpPr/>
          <p:nvPr/>
        </p:nvSpPr>
        <p:spPr>
          <a:xfrm>
            <a:off x="4233672" y="1572768"/>
            <a:ext cx="713232" cy="713232"/>
          </a:xfrm>
          <a:prstGeom prst="ellipse">
            <a:avLst/>
          </a:prstGeom>
          <a:solidFill>
            <a:srgbClr val="2563EB"/>
          </a:solidFill>
          <a:ln w="12700">
            <a:solidFill>
              <a:srgbClr val="2563EB"/>
            </a:solidFill>
            <a:prstDash val="solid"/>
          </a:ln>
        </p:spPr>
      </p:sp>
      <p:sp>
        <p:nvSpPr>
          <p:cNvPr id="24" name="Text 22"/>
          <p:cNvSpPr/>
          <p:nvPr/>
        </p:nvSpPr>
        <p:spPr>
          <a:xfrm>
            <a:off x="4233672" y="1572768"/>
            <a:ext cx="713232" cy="71323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hape 23"/>
          <p:cNvSpPr/>
          <p:nvPr/>
        </p:nvSpPr>
        <p:spPr>
          <a:xfrm>
            <a:off x="4983480" y="1865376"/>
            <a:ext cx="475488" cy="137160"/>
          </a:xfrm>
          <a:prstGeom prst="rect">
            <a:avLst/>
          </a:prstGeom>
          <a:solidFill>
            <a:srgbClr val="E2E8F0"/>
          </a:solidFill>
          <a:ln w="12700">
            <a:solidFill>
              <a:srgbClr val="E2E8F0"/>
            </a:solidFill>
            <a:prstDash val="solid"/>
          </a:ln>
        </p:spPr>
      </p:sp>
      <p:sp>
        <p:nvSpPr>
          <p:cNvPr id="26" name="Shape 24"/>
          <p:cNvSpPr/>
          <p:nvPr/>
        </p:nvSpPr>
        <p:spPr>
          <a:xfrm>
            <a:off x="3730752" y="2395728"/>
            <a:ext cx="1645920" cy="182880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7" name="Shape 25"/>
          <p:cNvSpPr/>
          <p:nvPr/>
        </p:nvSpPr>
        <p:spPr>
          <a:xfrm>
            <a:off x="3730752" y="2395728"/>
            <a:ext cx="1645920" cy="54864"/>
          </a:xfrm>
          <a:prstGeom prst="rect">
            <a:avLst/>
          </a:prstGeom>
          <a:solidFill>
            <a:srgbClr val="2563EB"/>
          </a:solidFill>
          <a:ln w="12700">
            <a:solidFill>
              <a:srgbClr val="2563EB"/>
            </a:solidFill>
            <a:prstDash val="solid"/>
          </a:ln>
        </p:spPr>
      </p:sp>
      <p:sp>
        <p:nvSpPr>
          <p:cNvPr id="28" name="Text 26"/>
          <p:cNvSpPr/>
          <p:nvPr/>
        </p:nvSpPr>
        <p:spPr>
          <a:xfrm>
            <a:off x="3776472" y="2468880"/>
            <a:ext cx="1554480" cy="475488"/>
          </a:xfrm>
          <a:prstGeom prst="rect">
            <a:avLst/>
          </a:prstGeom>
          <a:noFill/>
          <a:ln/>
        </p:spPr>
        <p:txBody>
          <a:bodyPr wrap="square"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Entropy Calculation</a:t>
            </a:r>
            <a:endParaRPr lang="en-US" sz="1050" dirty="0"/>
          </a:p>
        </p:txBody>
      </p:sp>
      <p:sp>
        <p:nvSpPr>
          <p:cNvPr id="29" name="Text 27"/>
          <p:cNvSpPr/>
          <p:nvPr/>
        </p:nvSpPr>
        <p:spPr>
          <a:xfrm>
            <a:off x="3794760" y="2980944"/>
            <a:ext cx="1517904" cy="118872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Compute Shannon Entropy over sliding time windows for each feature.</a:t>
            </a:r>
            <a:endParaRPr lang="en-US" sz="950" dirty="0"/>
          </a:p>
        </p:txBody>
      </p:sp>
      <p:sp>
        <p:nvSpPr>
          <p:cNvPr id="30" name="Shape 28"/>
          <p:cNvSpPr/>
          <p:nvPr/>
        </p:nvSpPr>
        <p:spPr>
          <a:xfrm>
            <a:off x="5971032" y="1572768"/>
            <a:ext cx="713232" cy="713232"/>
          </a:xfrm>
          <a:prstGeom prst="ellipse">
            <a:avLst/>
          </a:prstGeom>
          <a:solidFill>
            <a:srgbClr val="2563EB"/>
          </a:solidFill>
          <a:ln w="12700">
            <a:solidFill>
              <a:srgbClr val="2563EB"/>
            </a:solidFill>
            <a:prstDash val="solid"/>
          </a:ln>
        </p:spPr>
      </p:sp>
      <p:sp>
        <p:nvSpPr>
          <p:cNvPr id="31" name="Text 29"/>
          <p:cNvSpPr/>
          <p:nvPr/>
        </p:nvSpPr>
        <p:spPr>
          <a:xfrm>
            <a:off x="5971032" y="1572768"/>
            <a:ext cx="713232" cy="71323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2" name="Shape 30"/>
          <p:cNvSpPr/>
          <p:nvPr/>
        </p:nvSpPr>
        <p:spPr>
          <a:xfrm>
            <a:off x="6720840" y="1865376"/>
            <a:ext cx="475488" cy="137160"/>
          </a:xfrm>
          <a:prstGeom prst="rect">
            <a:avLst/>
          </a:prstGeom>
          <a:solidFill>
            <a:srgbClr val="E2E8F0"/>
          </a:solidFill>
          <a:ln w="12700">
            <a:solidFill>
              <a:srgbClr val="E2E8F0"/>
            </a:solidFill>
            <a:prstDash val="solid"/>
          </a:ln>
        </p:spPr>
      </p:sp>
      <p:sp>
        <p:nvSpPr>
          <p:cNvPr id="33" name="Shape 31"/>
          <p:cNvSpPr/>
          <p:nvPr/>
        </p:nvSpPr>
        <p:spPr>
          <a:xfrm>
            <a:off x="5468112" y="2395728"/>
            <a:ext cx="1645920" cy="182880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4" name="Shape 32"/>
          <p:cNvSpPr/>
          <p:nvPr/>
        </p:nvSpPr>
        <p:spPr>
          <a:xfrm>
            <a:off x="5468112" y="2395728"/>
            <a:ext cx="1645920" cy="54864"/>
          </a:xfrm>
          <a:prstGeom prst="rect">
            <a:avLst/>
          </a:prstGeom>
          <a:solidFill>
            <a:srgbClr val="2563EB"/>
          </a:solidFill>
          <a:ln w="12700">
            <a:solidFill>
              <a:srgbClr val="2563EB"/>
            </a:solidFill>
            <a:prstDash val="solid"/>
          </a:ln>
        </p:spPr>
      </p:sp>
      <p:sp>
        <p:nvSpPr>
          <p:cNvPr id="35" name="Text 33"/>
          <p:cNvSpPr/>
          <p:nvPr/>
        </p:nvSpPr>
        <p:spPr>
          <a:xfrm>
            <a:off x="5513832" y="2468880"/>
            <a:ext cx="1554480" cy="475488"/>
          </a:xfrm>
          <a:prstGeom prst="rect">
            <a:avLst/>
          </a:prstGeom>
          <a:noFill/>
          <a:ln/>
        </p:spPr>
        <p:txBody>
          <a:bodyPr wrap="square"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CUSUM Detection</a:t>
            </a:r>
            <a:endParaRPr lang="en-US" sz="1050" dirty="0"/>
          </a:p>
        </p:txBody>
      </p:sp>
      <p:sp>
        <p:nvSpPr>
          <p:cNvPr id="36" name="Text 34"/>
          <p:cNvSpPr/>
          <p:nvPr/>
        </p:nvSpPr>
        <p:spPr>
          <a:xfrm>
            <a:off x="5532120" y="2980944"/>
            <a:ext cx="1517904" cy="118872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Track cumulative deviation from baseline — trigger alert at threshold.</a:t>
            </a:r>
            <a:endParaRPr lang="en-US" sz="950" dirty="0"/>
          </a:p>
        </p:txBody>
      </p:sp>
      <p:sp>
        <p:nvSpPr>
          <p:cNvPr id="37" name="Shape 35"/>
          <p:cNvSpPr/>
          <p:nvPr/>
        </p:nvSpPr>
        <p:spPr>
          <a:xfrm>
            <a:off x="7708392" y="1572768"/>
            <a:ext cx="713232" cy="713232"/>
          </a:xfrm>
          <a:prstGeom prst="ellipse">
            <a:avLst/>
          </a:prstGeom>
          <a:solidFill>
            <a:srgbClr val="2563EB"/>
          </a:solidFill>
          <a:ln w="12700">
            <a:solidFill>
              <a:srgbClr val="2563EB"/>
            </a:solidFill>
            <a:prstDash val="solid"/>
          </a:ln>
        </p:spPr>
      </p:sp>
      <p:sp>
        <p:nvSpPr>
          <p:cNvPr id="38" name="Text 36"/>
          <p:cNvSpPr/>
          <p:nvPr/>
        </p:nvSpPr>
        <p:spPr>
          <a:xfrm>
            <a:off x="7708392" y="1572768"/>
            <a:ext cx="713232" cy="71323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9" name="Shape 37"/>
          <p:cNvSpPr/>
          <p:nvPr/>
        </p:nvSpPr>
        <p:spPr>
          <a:xfrm>
            <a:off x="7205472" y="2395728"/>
            <a:ext cx="1645920" cy="182880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40" name="Shape 38"/>
          <p:cNvSpPr/>
          <p:nvPr/>
        </p:nvSpPr>
        <p:spPr>
          <a:xfrm>
            <a:off x="7205472" y="2395728"/>
            <a:ext cx="1645920" cy="54864"/>
          </a:xfrm>
          <a:prstGeom prst="rect">
            <a:avLst/>
          </a:prstGeom>
          <a:solidFill>
            <a:srgbClr val="2563EB"/>
          </a:solidFill>
          <a:ln w="12700">
            <a:solidFill>
              <a:srgbClr val="2563EB"/>
            </a:solidFill>
            <a:prstDash val="solid"/>
          </a:ln>
        </p:spPr>
      </p:sp>
      <p:sp>
        <p:nvSpPr>
          <p:cNvPr id="41" name="Text 39"/>
          <p:cNvSpPr/>
          <p:nvPr/>
        </p:nvSpPr>
        <p:spPr>
          <a:xfrm>
            <a:off x="7251192" y="2468880"/>
            <a:ext cx="1554480" cy="475488"/>
          </a:xfrm>
          <a:prstGeom prst="rect">
            <a:avLst/>
          </a:prstGeom>
          <a:noFill/>
          <a:ln/>
        </p:spPr>
        <p:txBody>
          <a:bodyPr wrap="square"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Classify &amp; Alert</a:t>
            </a:r>
            <a:endParaRPr lang="en-US" sz="1050" dirty="0"/>
          </a:p>
        </p:txBody>
      </p:sp>
      <p:sp>
        <p:nvSpPr>
          <p:cNvPr id="42" name="Text 40"/>
          <p:cNvSpPr/>
          <p:nvPr/>
        </p:nvSpPr>
        <p:spPr>
          <a:xfrm>
            <a:off x="7269480" y="2980944"/>
            <a:ext cx="1517904" cy="118872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ML model classifies as Normal or DDoS. 92% accuracy. Instant alerts.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e.  Advantages of Proposed System</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6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Shape 6"/>
          <p:cNvSpPr/>
          <p:nvPr/>
        </p:nvSpPr>
        <p:spPr>
          <a:xfrm>
            <a:off x="256032" y="822960"/>
            <a:ext cx="2816352" cy="1865376"/>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9" name="Shape 7"/>
          <p:cNvSpPr/>
          <p:nvPr/>
        </p:nvSpPr>
        <p:spPr>
          <a:xfrm>
            <a:off x="256032" y="822960"/>
            <a:ext cx="2816352" cy="50292"/>
          </a:xfrm>
          <a:prstGeom prst="rect">
            <a:avLst/>
          </a:prstGeom>
          <a:solidFill>
            <a:srgbClr val="16A34A"/>
          </a:solidFill>
          <a:ln w="12700">
            <a:solidFill>
              <a:srgbClr val="16A34A"/>
            </a:solidFill>
            <a:prstDash val="solid"/>
          </a:ln>
        </p:spPr>
      </p:sp>
      <p:sp>
        <p:nvSpPr>
          <p:cNvPr id="10" name="Text 8"/>
          <p:cNvSpPr/>
          <p:nvPr/>
        </p:nvSpPr>
        <p:spPr>
          <a:xfrm>
            <a:off x="256032" y="914400"/>
            <a:ext cx="2816352" cy="54864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347472" y="1481328"/>
            <a:ext cx="2633472" cy="402336"/>
          </a:xfrm>
          <a:prstGeom prst="rect">
            <a:avLst/>
          </a:prstGeom>
          <a:noFill/>
          <a:ln/>
        </p:spPr>
        <p:txBody>
          <a:bodyPr wrap="square" rtlCol="0" anchor="ctr"/>
          <a:lstStyle/>
          <a:p>
            <a:pPr marL="0" indent="0" algn="ctr">
              <a:buNone/>
            </a:pPr>
            <a:r>
              <a:rPr lang="en-US" sz="1150" b="1" dirty="0">
                <a:solidFill>
                  <a:srgbClr val="1E3A5F"/>
                </a:solidFill>
                <a:latin typeface="Calibri" pitchFamily="34" charset="0"/>
                <a:ea typeface="Calibri" pitchFamily="34" charset="-122"/>
                <a:cs typeface="Calibri" pitchFamily="34" charset="-120"/>
              </a:rPr>
              <a:t>High Detection Accuracy (92%)</a:t>
            </a:r>
            <a:endParaRPr lang="en-US" sz="1150" dirty="0"/>
          </a:p>
        </p:txBody>
      </p:sp>
      <p:sp>
        <p:nvSpPr>
          <p:cNvPr id="12" name="Text 10"/>
          <p:cNvSpPr/>
          <p:nvPr/>
        </p:nvSpPr>
        <p:spPr>
          <a:xfrm>
            <a:off x="347472" y="1883664"/>
            <a:ext cx="2633472" cy="694944"/>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Entropy + CUSUM + ML combined delivers 92% accuracy on real-world DDoS datasets.</a:t>
            </a:r>
            <a:endParaRPr lang="en-US" sz="1000" dirty="0"/>
          </a:p>
        </p:txBody>
      </p:sp>
      <p:sp>
        <p:nvSpPr>
          <p:cNvPr id="13" name="Shape 11"/>
          <p:cNvSpPr/>
          <p:nvPr/>
        </p:nvSpPr>
        <p:spPr>
          <a:xfrm>
            <a:off x="3200400" y="822960"/>
            <a:ext cx="2816352" cy="1865376"/>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4" name="Shape 12"/>
          <p:cNvSpPr/>
          <p:nvPr/>
        </p:nvSpPr>
        <p:spPr>
          <a:xfrm>
            <a:off x="3200400" y="822960"/>
            <a:ext cx="2816352" cy="50292"/>
          </a:xfrm>
          <a:prstGeom prst="rect">
            <a:avLst/>
          </a:prstGeom>
          <a:solidFill>
            <a:srgbClr val="16A34A"/>
          </a:solidFill>
          <a:ln w="12700">
            <a:solidFill>
              <a:srgbClr val="16A34A"/>
            </a:solidFill>
            <a:prstDash val="solid"/>
          </a:ln>
        </p:spPr>
      </p:sp>
      <p:sp>
        <p:nvSpPr>
          <p:cNvPr id="15" name="Text 13"/>
          <p:cNvSpPr/>
          <p:nvPr/>
        </p:nvSpPr>
        <p:spPr>
          <a:xfrm>
            <a:off x="3200400" y="914400"/>
            <a:ext cx="2816352" cy="54864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6" name="Text 14"/>
          <p:cNvSpPr/>
          <p:nvPr/>
        </p:nvSpPr>
        <p:spPr>
          <a:xfrm>
            <a:off x="3291840" y="1481328"/>
            <a:ext cx="2633472" cy="402336"/>
          </a:xfrm>
          <a:prstGeom prst="rect">
            <a:avLst/>
          </a:prstGeom>
          <a:noFill/>
          <a:ln/>
        </p:spPr>
        <p:txBody>
          <a:bodyPr wrap="square" rtlCol="0" anchor="ctr"/>
          <a:lstStyle/>
          <a:p>
            <a:pPr marL="0" indent="0" algn="ctr">
              <a:buNone/>
            </a:pPr>
            <a:r>
              <a:rPr lang="en-US" sz="1150" b="1" dirty="0">
                <a:solidFill>
                  <a:srgbClr val="1E3A5F"/>
                </a:solidFill>
                <a:latin typeface="Calibri" pitchFamily="34" charset="0"/>
                <a:ea typeface="Calibri" pitchFamily="34" charset="-122"/>
                <a:cs typeface="Calibri" pitchFamily="34" charset="-120"/>
              </a:rPr>
              <a:t>Real-Time Monitoring</a:t>
            </a:r>
            <a:endParaRPr lang="en-US" sz="1150" dirty="0"/>
          </a:p>
        </p:txBody>
      </p:sp>
      <p:sp>
        <p:nvSpPr>
          <p:cNvPr id="17" name="Text 15"/>
          <p:cNvSpPr/>
          <p:nvPr/>
        </p:nvSpPr>
        <p:spPr>
          <a:xfrm>
            <a:off x="3291840" y="1883664"/>
            <a:ext cx="2633472" cy="694944"/>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Detects attacks instantly as traffic flows — enables immediate protective action.</a:t>
            </a:r>
            <a:endParaRPr lang="en-US" sz="1000" dirty="0"/>
          </a:p>
        </p:txBody>
      </p:sp>
      <p:sp>
        <p:nvSpPr>
          <p:cNvPr id="18" name="Shape 16"/>
          <p:cNvSpPr/>
          <p:nvPr/>
        </p:nvSpPr>
        <p:spPr>
          <a:xfrm>
            <a:off x="6144768" y="822960"/>
            <a:ext cx="2816352" cy="1865376"/>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9" name="Shape 17"/>
          <p:cNvSpPr/>
          <p:nvPr/>
        </p:nvSpPr>
        <p:spPr>
          <a:xfrm>
            <a:off x="6144768" y="822960"/>
            <a:ext cx="2816352" cy="50292"/>
          </a:xfrm>
          <a:prstGeom prst="rect">
            <a:avLst/>
          </a:prstGeom>
          <a:solidFill>
            <a:srgbClr val="16A34A"/>
          </a:solidFill>
          <a:ln w="12700">
            <a:solidFill>
              <a:srgbClr val="16A34A"/>
            </a:solidFill>
            <a:prstDash val="solid"/>
          </a:ln>
        </p:spPr>
      </p:sp>
      <p:sp>
        <p:nvSpPr>
          <p:cNvPr id="20" name="Text 18"/>
          <p:cNvSpPr/>
          <p:nvPr/>
        </p:nvSpPr>
        <p:spPr>
          <a:xfrm>
            <a:off x="6144768" y="914400"/>
            <a:ext cx="2816352" cy="54864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Text 19"/>
          <p:cNvSpPr/>
          <p:nvPr/>
        </p:nvSpPr>
        <p:spPr>
          <a:xfrm>
            <a:off x="6236208" y="1481328"/>
            <a:ext cx="2633472" cy="402336"/>
          </a:xfrm>
          <a:prstGeom prst="rect">
            <a:avLst/>
          </a:prstGeom>
          <a:noFill/>
          <a:ln/>
        </p:spPr>
        <p:txBody>
          <a:bodyPr wrap="square" rtlCol="0" anchor="ctr"/>
          <a:lstStyle/>
          <a:p>
            <a:pPr marL="0" indent="0" algn="ctr">
              <a:buNone/>
            </a:pPr>
            <a:r>
              <a:rPr lang="en-US" sz="1150" b="1" dirty="0">
                <a:solidFill>
                  <a:srgbClr val="1E3A5F"/>
                </a:solidFill>
                <a:latin typeface="Calibri" pitchFamily="34" charset="0"/>
                <a:ea typeface="Calibri" pitchFamily="34" charset="-122"/>
                <a:cs typeface="Calibri" pitchFamily="34" charset="-120"/>
              </a:rPr>
              <a:t>Low False Positive Rate</a:t>
            </a:r>
            <a:endParaRPr lang="en-US" sz="1150" dirty="0"/>
          </a:p>
        </p:txBody>
      </p:sp>
      <p:sp>
        <p:nvSpPr>
          <p:cNvPr id="22" name="Text 20"/>
          <p:cNvSpPr/>
          <p:nvPr/>
        </p:nvSpPr>
        <p:spPr>
          <a:xfrm>
            <a:off x="6236208" y="1883664"/>
            <a:ext cx="2633472" cy="694944"/>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ML classification correctly distinguishes legitimate traffic spikes from attacks.</a:t>
            </a:r>
            <a:endParaRPr lang="en-US" sz="1000" dirty="0"/>
          </a:p>
        </p:txBody>
      </p:sp>
      <p:sp>
        <p:nvSpPr>
          <p:cNvPr id="23" name="Shape 21"/>
          <p:cNvSpPr/>
          <p:nvPr/>
        </p:nvSpPr>
        <p:spPr>
          <a:xfrm>
            <a:off x="256032" y="2834640"/>
            <a:ext cx="2816352" cy="1865376"/>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4" name="Shape 22"/>
          <p:cNvSpPr/>
          <p:nvPr/>
        </p:nvSpPr>
        <p:spPr>
          <a:xfrm>
            <a:off x="256032" y="2834640"/>
            <a:ext cx="2816352" cy="50292"/>
          </a:xfrm>
          <a:prstGeom prst="rect">
            <a:avLst/>
          </a:prstGeom>
          <a:solidFill>
            <a:srgbClr val="16A34A"/>
          </a:solidFill>
          <a:ln w="12700">
            <a:solidFill>
              <a:srgbClr val="16A34A"/>
            </a:solidFill>
            <a:prstDash val="solid"/>
          </a:ln>
        </p:spPr>
      </p:sp>
      <p:sp>
        <p:nvSpPr>
          <p:cNvPr id="25" name="Text 23"/>
          <p:cNvSpPr/>
          <p:nvPr/>
        </p:nvSpPr>
        <p:spPr>
          <a:xfrm>
            <a:off x="256032" y="2926080"/>
            <a:ext cx="2816352" cy="54864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6" name="Text 24"/>
          <p:cNvSpPr/>
          <p:nvPr/>
        </p:nvSpPr>
        <p:spPr>
          <a:xfrm>
            <a:off x="347472" y="3493008"/>
            <a:ext cx="2633472" cy="402336"/>
          </a:xfrm>
          <a:prstGeom prst="rect">
            <a:avLst/>
          </a:prstGeom>
          <a:noFill/>
          <a:ln/>
        </p:spPr>
        <p:txBody>
          <a:bodyPr wrap="square" rtlCol="0" anchor="ctr"/>
          <a:lstStyle/>
          <a:p>
            <a:pPr marL="0" indent="0" algn="ctr">
              <a:buNone/>
            </a:pPr>
            <a:r>
              <a:rPr lang="en-US" sz="1150" b="1" dirty="0">
                <a:solidFill>
                  <a:srgbClr val="1E3A5F"/>
                </a:solidFill>
                <a:latin typeface="Calibri" pitchFamily="34" charset="0"/>
                <a:ea typeface="Calibri" pitchFamily="34" charset="-122"/>
                <a:cs typeface="Calibri" pitchFamily="34" charset="-120"/>
              </a:rPr>
              <a:t>Highly Scalable</a:t>
            </a:r>
            <a:endParaRPr lang="en-US" sz="1150" dirty="0"/>
          </a:p>
        </p:txBody>
      </p:sp>
      <p:sp>
        <p:nvSpPr>
          <p:cNvPr id="27" name="Text 25"/>
          <p:cNvSpPr/>
          <p:nvPr/>
        </p:nvSpPr>
        <p:spPr>
          <a:xfrm>
            <a:off x="347472" y="3895344"/>
            <a:ext cx="2633472" cy="694944"/>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Handles large-scale traffic efficiently — suitable for cloud infrastructure.</a:t>
            </a:r>
            <a:endParaRPr lang="en-US" sz="1000" dirty="0"/>
          </a:p>
        </p:txBody>
      </p:sp>
      <p:sp>
        <p:nvSpPr>
          <p:cNvPr id="28" name="Shape 26"/>
          <p:cNvSpPr/>
          <p:nvPr/>
        </p:nvSpPr>
        <p:spPr>
          <a:xfrm>
            <a:off x="3200400" y="2834640"/>
            <a:ext cx="2816352" cy="1865376"/>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9" name="Shape 27"/>
          <p:cNvSpPr/>
          <p:nvPr/>
        </p:nvSpPr>
        <p:spPr>
          <a:xfrm>
            <a:off x="3200400" y="2834640"/>
            <a:ext cx="2816352" cy="50292"/>
          </a:xfrm>
          <a:prstGeom prst="rect">
            <a:avLst/>
          </a:prstGeom>
          <a:solidFill>
            <a:srgbClr val="16A34A"/>
          </a:solidFill>
          <a:ln w="12700">
            <a:solidFill>
              <a:srgbClr val="16A34A"/>
            </a:solidFill>
            <a:prstDash val="solid"/>
          </a:ln>
        </p:spPr>
      </p:sp>
      <p:sp>
        <p:nvSpPr>
          <p:cNvPr id="30" name="Text 28"/>
          <p:cNvSpPr/>
          <p:nvPr/>
        </p:nvSpPr>
        <p:spPr>
          <a:xfrm>
            <a:off x="3200400" y="2926080"/>
            <a:ext cx="2816352" cy="54864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1" name="Text 29"/>
          <p:cNvSpPr/>
          <p:nvPr/>
        </p:nvSpPr>
        <p:spPr>
          <a:xfrm>
            <a:off x="3291840" y="3493008"/>
            <a:ext cx="2633472" cy="402336"/>
          </a:xfrm>
          <a:prstGeom prst="rect">
            <a:avLst/>
          </a:prstGeom>
          <a:noFill/>
          <a:ln/>
        </p:spPr>
        <p:txBody>
          <a:bodyPr wrap="square" rtlCol="0" anchor="ctr"/>
          <a:lstStyle/>
          <a:p>
            <a:pPr marL="0" indent="0" algn="ctr">
              <a:buNone/>
            </a:pPr>
            <a:r>
              <a:rPr lang="en-US" sz="1150" b="1" dirty="0">
                <a:solidFill>
                  <a:srgbClr val="1E3A5F"/>
                </a:solidFill>
                <a:latin typeface="Calibri" pitchFamily="34" charset="0"/>
                <a:ea typeface="Calibri" pitchFamily="34" charset="-122"/>
                <a:cs typeface="Calibri" pitchFamily="34" charset="-120"/>
              </a:rPr>
              <a:t>Adaptive &amp; Self-Adjusting</a:t>
            </a:r>
            <a:endParaRPr lang="en-US" sz="1150" dirty="0"/>
          </a:p>
        </p:txBody>
      </p:sp>
      <p:sp>
        <p:nvSpPr>
          <p:cNvPr id="32" name="Text 30"/>
          <p:cNvSpPr/>
          <p:nvPr/>
        </p:nvSpPr>
        <p:spPr>
          <a:xfrm>
            <a:off x="3291840" y="3895344"/>
            <a:ext cx="2633472" cy="694944"/>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Continuously updates entropy baselines to adapt to changing traffic patterns.</a:t>
            </a:r>
            <a:endParaRPr lang="en-US" sz="1000" dirty="0"/>
          </a:p>
        </p:txBody>
      </p:sp>
      <p:sp>
        <p:nvSpPr>
          <p:cNvPr id="33" name="Shape 31"/>
          <p:cNvSpPr/>
          <p:nvPr/>
        </p:nvSpPr>
        <p:spPr>
          <a:xfrm>
            <a:off x="6144768" y="2834640"/>
            <a:ext cx="2816352" cy="1865376"/>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4" name="Shape 32"/>
          <p:cNvSpPr/>
          <p:nvPr/>
        </p:nvSpPr>
        <p:spPr>
          <a:xfrm>
            <a:off x="6144768" y="2834640"/>
            <a:ext cx="2816352" cy="50292"/>
          </a:xfrm>
          <a:prstGeom prst="rect">
            <a:avLst/>
          </a:prstGeom>
          <a:solidFill>
            <a:srgbClr val="16A34A"/>
          </a:solidFill>
          <a:ln w="12700">
            <a:solidFill>
              <a:srgbClr val="16A34A"/>
            </a:solidFill>
            <a:prstDash val="solid"/>
          </a:ln>
        </p:spPr>
      </p:sp>
      <p:sp>
        <p:nvSpPr>
          <p:cNvPr id="35" name="Text 33"/>
          <p:cNvSpPr/>
          <p:nvPr/>
        </p:nvSpPr>
        <p:spPr>
          <a:xfrm>
            <a:off x="6144768" y="2926080"/>
            <a:ext cx="2816352" cy="54864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6" name="Text 34"/>
          <p:cNvSpPr/>
          <p:nvPr/>
        </p:nvSpPr>
        <p:spPr>
          <a:xfrm>
            <a:off x="6236208" y="3493008"/>
            <a:ext cx="2633472" cy="402336"/>
          </a:xfrm>
          <a:prstGeom prst="rect">
            <a:avLst/>
          </a:prstGeom>
          <a:noFill/>
          <a:ln/>
        </p:spPr>
        <p:txBody>
          <a:bodyPr wrap="square" rtlCol="0" anchor="ctr"/>
          <a:lstStyle/>
          <a:p>
            <a:pPr marL="0" indent="0" algn="ctr">
              <a:buNone/>
            </a:pPr>
            <a:r>
              <a:rPr lang="en-US" sz="1150" b="1" dirty="0">
                <a:solidFill>
                  <a:srgbClr val="1E3A5F"/>
                </a:solidFill>
                <a:latin typeface="Calibri" pitchFamily="34" charset="0"/>
                <a:ea typeface="Calibri" pitchFamily="34" charset="-122"/>
                <a:cs typeface="Calibri" pitchFamily="34" charset="-120"/>
              </a:rPr>
              <a:t>Open-Source &amp; Efficient</a:t>
            </a:r>
            <a:endParaRPr lang="en-US" sz="1150" dirty="0"/>
          </a:p>
        </p:txBody>
      </p:sp>
      <p:sp>
        <p:nvSpPr>
          <p:cNvPr id="37" name="Text 35"/>
          <p:cNvSpPr/>
          <p:nvPr/>
        </p:nvSpPr>
        <p:spPr>
          <a:xfrm>
            <a:off x="6236208" y="3895344"/>
            <a:ext cx="2633472" cy="694944"/>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Full Python pipeline with GUI — no proprietary tools; optimized for performance.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f.  Hardware &amp; Software Requirements</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7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Shape 6"/>
          <p:cNvSpPr/>
          <p:nvPr/>
        </p:nvSpPr>
        <p:spPr>
          <a:xfrm>
            <a:off x="256032" y="804672"/>
            <a:ext cx="4160520" cy="420624"/>
          </a:xfrm>
          <a:prstGeom prst="rect">
            <a:avLst/>
          </a:prstGeom>
          <a:solidFill>
            <a:srgbClr val="DBEAFE"/>
          </a:solidFill>
          <a:ln w="10160">
            <a:solidFill>
              <a:srgbClr val="2563EB"/>
            </a:solidFill>
            <a:prstDash val="solid"/>
          </a:ln>
        </p:spPr>
      </p:sp>
      <p:sp>
        <p:nvSpPr>
          <p:cNvPr id="9" name="Text 7"/>
          <p:cNvSpPr/>
          <p:nvPr/>
        </p:nvSpPr>
        <p:spPr>
          <a:xfrm>
            <a:off x="347472" y="804672"/>
            <a:ext cx="4023360" cy="420624"/>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  Hardware Requirements</a:t>
            </a:r>
            <a:endParaRPr lang="en-US" sz="1300" dirty="0"/>
          </a:p>
        </p:txBody>
      </p:sp>
      <p:sp>
        <p:nvSpPr>
          <p:cNvPr id="10" name="Shape 8"/>
          <p:cNvSpPr/>
          <p:nvPr/>
        </p:nvSpPr>
        <p:spPr>
          <a:xfrm>
            <a:off x="256032" y="1298448"/>
            <a:ext cx="4160520" cy="566928"/>
          </a:xfrm>
          <a:prstGeom prst="rect">
            <a:avLst/>
          </a:prstGeom>
          <a:solidFill>
            <a:srgbClr val="F8FAFC"/>
          </a:solidFill>
          <a:ln w="6350">
            <a:solidFill>
              <a:srgbClr val="E2E8F0"/>
            </a:solidFill>
            <a:prstDash val="solid"/>
          </a:ln>
        </p:spPr>
      </p:sp>
      <p:sp>
        <p:nvSpPr>
          <p:cNvPr id="11" name="Text 9"/>
          <p:cNvSpPr/>
          <p:nvPr/>
        </p:nvSpPr>
        <p:spPr>
          <a:xfrm>
            <a:off x="365760" y="1298448"/>
            <a:ext cx="1481328" cy="566928"/>
          </a:xfrm>
          <a:prstGeom prst="rect">
            <a:avLst/>
          </a:prstGeom>
          <a:noFill/>
          <a:ln/>
        </p:spPr>
        <p:txBody>
          <a:bodyPr wrap="square" rtlCol="0" anchor="ctr"/>
          <a:lstStyle/>
          <a:p>
            <a:pPr marL="0" indent="0">
              <a:buNone/>
            </a:pPr>
            <a:r>
              <a:rPr lang="en-US" sz="1150" b="1" dirty="0">
                <a:solidFill>
                  <a:srgbClr val="2563EB"/>
                </a:solidFill>
                <a:latin typeface="Calibri" pitchFamily="34" charset="0"/>
                <a:ea typeface="Calibri" pitchFamily="34" charset="-122"/>
                <a:cs typeface="Calibri" pitchFamily="34" charset="-120"/>
              </a:rPr>
              <a:t>Processor</a:t>
            </a:r>
            <a:endParaRPr lang="en-US" sz="1150" dirty="0"/>
          </a:p>
        </p:txBody>
      </p:sp>
      <p:sp>
        <p:nvSpPr>
          <p:cNvPr id="12" name="Text 10"/>
          <p:cNvSpPr/>
          <p:nvPr/>
        </p:nvSpPr>
        <p:spPr>
          <a:xfrm>
            <a:off x="1938528" y="1298448"/>
            <a:ext cx="2377440" cy="56692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Intel Core i3 or higher</a:t>
            </a:r>
            <a:endParaRPr lang="en-US" sz="1150" dirty="0"/>
          </a:p>
        </p:txBody>
      </p:sp>
      <p:sp>
        <p:nvSpPr>
          <p:cNvPr id="13" name="Shape 11"/>
          <p:cNvSpPr/>
          <p:nvPr/>
        </p:nvSpPr>
        <p:spPr>
          <a:xfrm>
            <a:off x="256032" y="1975104"/>
            <a:ext cx="4160520" cy="566928"/>
          </a:xfrm>
          <a:prstGeom prst="rect">
            <a:avLst/>
          </a:prstGeom>
          <a:solidFill>
            <a:srgbClr val="FFFFFF"/>
          </a:solidFill>
          <a:ln w="6350">
            <a:solidFill>
              <a:srgbClr val="E2E8F0"/>
            </a:solidFill>
            <a:prstDash val="solid"/>
          </a:ln>
        </p:spPr>
      </p:sp>
      <p:sp>
        <p:nvSpPr>
          <p:cNvPr id="14" name="Text 12"/>
          <p:cNvSpPr/>
          <p:nvPr/>
        </p:nvSpPr>
        <p:spPr>
          <a:xfrm>
            <a:off x="365760" y="1975104"/>
            <a:ext cx="1481328" cy="566928"/>
          </a:xfrm>
          <a:prstGeom prst="rect">
            <a:avLst/>
          </a:prstGeom>
          <a:noFill/>
          <a:ln/>
        </p:spPr>
        <p:txBody>
          <a:bodyPr wrap="square" rtlCol="0" anchor="ctr"/>
          <a:lstStyle/>
          <a:p>
            <a:pPr marL="0" indent="0">
              <a:buNone/>
            </a:pPr>
            <a:r>
              <a:rPr lang="en-US" sz="1150" b="1" dirty="0">
                <a:solidFill>
                  <a:srgbClr val="2563EB"/>
                </a:solidFill>
                <a:latin typeface="Calibri" pitchFamily="34" charset="0"/>
                <a:ea typeface="Calibri" pitchFamily="34" charset="-122"/>
                <a:cs typeface="Calibri" pitchFamily="34" charset="-120"/>
              </a:rPr>
              <a:t>RAM</a:t>
            </a:r>
            <a:endParaRPr lang="en-US" sz="1150" dirty="0"/>
          </a:p>
        </p:txBody>
      </p:sp>
      <p:sp>
        <p:nvSpPr>
          <p:cNvPr id="15" name="Text 13"/>
          <p:cNvSpPr/>
          <p:nvPr/>
        </p:nvSpPr>
        <p:spPr>
          <a:xfrm>
            <a:off x="1938528" y="1975104"/>
            <a:ext cx="2377440" cy="56692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Minimum 4 GB (8 GB recommended)</a:t>
            </a:r>
            <a:endParaRPr lang="en-US" sz="1150" dirty="0"/>
          </a:p>
        </p:txBody>
      </p:sp>
      <p:sp>
        <p:nvSpPr>
          <p:cNvPr id="16" name="Shape 14"/>
          <p:cNvSpPr/>
          <p:nvPr/>
        </p:nvSpPr>
        <p:spPr>
          <a:xfrm>
            <a:off x="256032" y="2651760"/>
            <a:ext cx="4160520" cy="566928"/>
          </a:xfrm>
          <a:prstGeom prst="rect">
            <a:avLst/>
          </a:prstGeom>
          <a:solidFill>
            <a:srgbClr val="F8FAFC"/>
          </a:solidFill>
          <a:ln w="6350">
            <a:solidFill>
              <a:srgbClr val="E2E8F0"/>
            </a:solidFill>
            <a:prstDash val="solid"/>
          </a:ln>
        </p:spPr>
      </p:sp>
      <p:sp>
        <p:nvSpPr>
          <p:cNvPr id="17" name="Text 15"/>
          <p:cNvSpPr/>
          <p:nvPr/>
        </p:nvSpPr>
        <p:spPr>
          <a:xfrm>
            <a:off x="365760" y="2651760"/>
            <a:ext cx="1481328" cy="566928"/>
          </a:xfrm>
          <a:prstGeom prst="rect">
            <a:avLst/>
          </a:prstGeom>
          <a:noFill/>
          <a:ln/>
        </p:spPr>
        <p:txBody>
          <a:bodyPr wrap="square" rtlCol="0" anchor="ctr"/>
          <a:lstStyle/>
          <a:p>
            <a:pPr marL="0" indent="0">
              <a:buNone/>
            </a:pPr>
            <a:r>
              <a:rPr lang="en-US" sz="1150" b="1" dirty="0">
                <a:solidFill>
                  <a:srgbClr val="2563EB"/>
                </a:solidFill>
                <a:latin typeface="Calibri" pitchFamily="34" charset="0"/>
                <a:ea typeface="Calibri" pitchFamily="34" charset="-122"/>
                <a:cs typeface="Calibri" pitchFamily="34" charset="-120"/>
              </a:rPr>
              <a:t>Hard Disk</a:t>
            </a:r>
            <a:endParaRPr lang="en-US" sz="1150" dirty="0"/>
          </a:p>
        </p:txBody>
      </p:sp>
      <p:sp>
        <p:nvSpPr>
          <p:cNvPr id="18" name="Text 16"/>
          <p:cNvSpPr/>
          <p:nvPr/>
        </p:nvSpPr>
        <p:spPr>
          <a:xfrm>
            <a:off x="1938528" y="2651760"/>
            <a:ext cx="2377440" cy="56692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20 GB free storage</a:t>
            </a:r>
            <a:endParaRPr lang="en-US" sz="1150" dirty="0"/>
          </a:p>
        </p:txBody>
      </p:sp>
      <p:sp>
        <p:nvSpPr>
          <p:cNvPr id="19" name="Shape 17"/>
          <p:cNvSpPr/>
          <p:nvPr/>
        </p:nvSpPr>
        <p:spPr>
          <a:xfrm>
            <a:off x="256032" y="3328416"/>
            <a:ext cx="4160520" cy="566928"/>
          </a:xfrm>
          <a:prstGeom prst="rect">
            <a:avLst/>
          </a:prstGeom>
          <a:solidFill>
            <a:srgbClr val="FFFFFF"/>
          </a:solidFill>
          <a:ln w="6350">
            <a:solidFill>
              <a:srgbClr val="E2E8F0"/>
            </a:solidFill>
            <a:prstDash val="solid"/>
          </a:ln>
        </p:spPr>
      </p:sp>
      <p:sp>
        <p:nvSpPr>
          <p:cNvPr id="20" name="Text 18"/>
          <p:cNvSpPr/>
          <p:nvPr/>
        </p:nvSpPr>
        <p:spPr>
          <a:xfrm>
            <a:off x="365760" y="3328416"/>
            <a:ext cx="1481328" cy="566928"/>
          </a:xfrm>
          <a:prstGeom prst="rect">
            <a:avLst/>
          </a:prstGeom>
          <a:noFill/>
          <a:ln/>
        </p:spPr>
        <p:txBody>
          <a:bodyPr wrap="square" rtlCol="0" anchor="ctr"/>
          <a:lstStyle/>
          <a:p>
            <a:pPr marL="0" indent="0">
              <a:buNone/>
            </a:pPr>
            <a:r>
              <a:rPr lang="en-US" sz="1150" b="1" dirty="0">
                <a:solidFill>
                  <a:srgbClr val="2563EB"/>
                </a:solidFill>
                <a:latin typeface="Calibri" pitchFamily="34" charset="0"/>
                <a:ea typeface="Calibri" pitchFamily="34" charset="-122"/>
                <a:cs typeface="Calibri" pitchFamily="34" charset="-120"/>
              </a:rPr>
              <a:t>Network</a:t>
            </a:r>
            <a:endParaRPr lang="en-US" sz="1150" dirty="0"/>
          </a:p>
        </p:txBody>
      </p:sp>
      <p:sp>
        <p:nvSpPr>
          <p:cNvPr id="21" name="Text 19"/>
          <p:cNvSpPr/>
          <p:nvPr/>
        </p:nvSpPr>
        <p:spPr>
          <a:xfrm>
            <a:off x="1938528" y="3328416"/>
            <a:ext cx="2377440" cy="56692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Standard Ethernet / Wi-Fi adapter</a:t>
            </a:r>
            <a:endParaRPr lang="en-US" sz="1150" dirty="0"/>
          </a:p>
        </p:txBody>
      </p:sp>
      <p:sp>
        <p:nvSpPr>
          <p:cNvPr id="22" name="Shape 20"/>
          <p:cNvSpPr/>
          <p:nvPr/>
        </p:nvSpPr>
        <p:spPr>
          <a:xfrm>
            <a:off x="4773168" y="804672"/>
            <a:ext cx="4114800" cy="420624"/>
          </a:xfrm>
          <a:prstGeom prst="rect">
            <a:avLst/>
          </a:prstGeom>
          <a:solidFill>
            <a:srgbClr val="DBEAFE"/>
          </a:solidFill>
          <a:ln w="10160">
            <a:solidFill>
              <a:srgbClr val="2563EB"/>
            </a:solidFill>
            <a:prstDash val="solid"/>
          </a:ln>
        </p:spPr>
      </p:sp>
      <p:sp>
        <p:nvSpPr>
          <p:cNvPr id="23" name="Text 21"/>
          <p:cNvSpPr/>
          <p:nvPr/>
        </p:nvSpPr>
        <p:spPr>
          <a:xfrm>
            <a:off x="4864608" y="804672"/>
            <a:ext cx="3977640" cy="420624"/>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  Software Requirements</a:t>
            </a:r>
            <a:endParaRPr lang="en-US" sz="1300" dirty="0"/>
          </a:p>
        </p:txBody>
      </p:sp>
      <p:sp>
        <p:nvSpPr>
          <p:cNvPr id="24" name="Shape 22"/>
          <p:cNvSpPr/>
          <p:nvPr/>
        </p:nvSpPr>
        <p:spPr>
          <a:xfrm>
            <a:off x="4773168" y="1298448"/>
            <a:ext cx="4114800" cy="493776"/>
          </a:xfrm>
          <a:prstGeom prst="rect">
            <a:avLst/>
          </a:prstGeom>
          <a:solidFill>
            <a:srgbClr val="F8FAFC"/>
          </a:solidFill>
          <a:ln w="6350">
            <a:solidFill>
              <a:srgbClr val="E2E8F0"/>
            </a:solidFill>
            <a:prstDash val="solid"/>
          </a:ln>
        </p:spPr>
      </p:sp>
      <p:sp>
        <p:nvSpPr>
          <p:cNvPr id="25" name="Text 23"/>
          <p:cNvSpPr/>
          <p:nvPr/>
        </p:nvSpPr>
        <p:spPr>
          <a:xfrm>
            <a:off x="4882896" y="1298448"/>
            <a:ext cx="1371600" cy="493776"/>
          </a:xfrm>
          <a:prstGeom prst="rect">
            <a:avLst/>
          </a:prstGeom>
          <a:noFill/>
          <a:ln/>
        </p:spPr>
        <p:txBody>
          <a:bodyPr wrap="square" rtlCol="0" anchor="ctr"/>
          <a:lstStyle/>
          <a:p>
            <a:pPr marL="0" indent="0">
              <a:buNone/>
            </a:pPr>
            <a:r>
              <a:rPr lang="en-US" sz="1050" b="1" dirty="0">
                <a:solidFill>
                  <a:srgbClr val="2563EB"/>
                </a:solidFill>
                <a:latin typeface="Calibri" pitchFamily="34" charset="0"/>
                <a:ea typeface="Calibri" pitchFamily="34" charset="-122"/>
                <a:cs typeface="Calibri" pitchFamily="34" charset="-120"/>
              </a:rPr>
              <a:t>OS</a:t>
            </a:r>
            <a:endParaRPr lang="en-US" sz="1050" dirty="0"/>
          </a:p>
        </p:txBody>
      </p:sp>
      <p:sp>
        <p:nvSpPr>
          <p:cNvPr id="26" name="Text 24"/>
          <p:cNvSpPr/>
          <p:nvPr/>
        </p:nvSpPr>
        <p:spPr>
          <a:xfrm>
            <a:off x="6309360" y="1298448"/>
            <a:ext cx="2468880" cy="4937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Windows 10 / Ubuntu 20.04 LTS</a:t>
            </a:r>
            <a:endParaRPr lang="en-US" sz="1000" dirty="0"/>
          </a:p>
        </p:txBody>
      </p:sp>
      <p:sp>
        <p:nvSpPr>
          <p:cNvPr id="27" name="Shape 25"/>
          <p:cNvSpPr/>
          <p:nvPr/>
        </p:nvSpPr>
        <p:spPr>
          <a:xfrm>
            <a:off x="4773168" y="1865376"/>
            <a:ext cx="4114800" cy="493776"/>
          </a:xfrm>
          <a:prstGeom prst="rect">
            <a:avLst/>
          </a:prstGeom>
          <a:solidFill>
            <a:srgbClr val="FFFFFF"/>
          </a:solidFill>
          <a:ln w="6350">
            <a:solidFill>
              <a:srgbClr val="E2E8F0"/>
            </a:solidFill>
            <a:prstDash val="solid"/>
          </a:ln>
        </p:spPr>
      </p:sp>
      <p:sp>
        <p:nvSpPr>
          <p:cNvPr id="28" name="Text 26"/>
          <p:cNvSpPr/>
          <p:nvPr/>
        </p:nvSpPr>
        <p:spPr>
          <a:xfrm>
            <a:off x="4882896" y="1865376"/>
            <a:ext cx="1371600" cy="493776"/>
          </a:xfrm>
          <a:prstGeom prst="rect">
            <a:avLst/>
          </a:prstGeom>
          <a:noFill/>
          <a:ln/>
        </p:spPr>
        <p:txBody>
          <a:bodyPr wrap="square" rtlCol="0" anchor="ctr"/>
          <a:lstStyle/>
          <a:p>
            <a:pPr marL="0" indent="0">
              <a:buNone/>
            </a:pPr>
            <a:r>
              <a:rPr lang="en-US" sz="1050" b="1" dirty="0">
                <a:solidFill>
                  <a:srgbClr val="2563EB"/>
                </a:solidFill>
                <a:latin typeface="Calibri" pitchFamily="34" charset="0"/>
                <a:ea typeface="Calibri" pitchFamily="34" charset="-122"/>
                <a:cs typeface="Calibri" pitchFamily="34" charset="-120"/>
              </a:rPr>
              <a:t>Language</a:t>
            </a:r>
            <a:endParaRPr lang="en-US" sz="1050" dirty="0"/>
          </a:p>
        </p:txBody>
      </p:sp>
      <p:sp>
        <p:nvSpPr>
          <p:cNvPr id="29" name="Text 27"/>
          <p:cNvSpPr/>
          <p:nvPr/>
        </p:nvSpPr>
        <p:spPr>
          <a:xfrm>
            <a:off x="6309360" y="1865376"/>
            <a:ext cx="2468880" cy="4937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Python 3.8 or later</a:t>
            </a:r>
            <a:endParaRPr lang="en-US" sz="1000" dirty="0"/>
          </a:p>
        </p:txBody>
      </p:sp>
      <p:sp>
        <p:nvSpPr>
          <p:cNvPr id="30" name="Shape 28"/>
          <p:cNvSpPr/>
          <p:nvPr/>
        </p:nvSpPr>
        <p:spPr>
          <a:xfrm>
            <a:off x="4773168" y="2432304"/>
            <a:ext cx="4114800" cy="493776"/>
          </a:xfrm>
          <a:prstGeom prst="rect">
            <a:avLst/>
          </a:prstGeom>
          <a:solidFill>
            <a:srgbClr val="F8FAFC"/>
          </a:solidFill>
          <a:ln w="6350">
            <a:solidFill>
              <a:srgbClr val="E2E8F0"/>
            </a:solidFill>
            <a:prstDash val="solid"/>
          </a:ln>
        </p:spPr>
      </p:sp>
      <p:sp>
        <p:nvSpPr>
          <p:cNvPr id="31" name="Text 29"/>
          <p:cNvSpPr/>
          <p:nvPr/>
        </p:nvSpPr>
        <p:spPr>
          <a:xfrm>
            <a:off x="4882896" y="2432304"/>
            <a:ext cx="1371600" cy="493776"/>
          </a:xfrm>
          <a:prstGeom prst="rect">
            <a:avLst/>
          </a:prstGeom>
          <a:noFill/>
          <a:ln/>
        </p:spPr>
        <p:txBody>
          <a:bodyPr wrap="square" rtlCol="0" anchor="ctr"/>
          <a:lstStyle/>
          <a:p>
            <a:pPr marL="0" indent="0">
              <a:buNone/>
            </a:pPr>
            <a:r>
              <a:rPr lang="en-US" sz="1050" b="1" dirty="0">
                <a:solidFill>
                  <a:srgbClr val="2563EB"/>
                </a:solidFill>
                <a:latin typeface="Calibri" pitchFamily="34" charset="0"/>
                <a:ea typeface="Calibri" pitchFamily="34" charset="-122"/>
                <a:cs typeface="Calibri" pitchFamily="34" charset="-120"/>
              </a:rPr>
              <a:t>Libraries</a:t>
            </a:r>
            <a:endParaRPr lang="en-US" sz="1050" dirty="0"/>
          </a:p>
        </p:txBody>
      </p:sp>
      <p:sp>
        <p:nvSpPr>
          <p:cNvPr id="32" name="Text 30"/>
          <p:cNvSpPr/>
          <p:nvPr/>
        </p:nvSpPr>
        <p:spPr>
          <a:xfrm>
            <a:off x="6309360" y="2432304"/>
            <a:ext cx="2468880" cy="4937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NumPy, Pandas, Scikit-learn, Matplotlib, Seaborn, TensorFlow, Tkinter</a:t>
            </a:r>
            <a:endParaRPr lang="en-US" sz="1000" dirty="0"/>
          </a:p>
        </p:txBody>
      </p:sp>
      <p:sp>
        <p:nvSpPr>
          <p:cNvPr id="33" name="Shape 31"/>
          <p:cNvSpPr/>
          <p:nvPr/>
        </p:nvSpPr>
        <p:spPr>
          <a:xfrm>
            <a:off x="4773168" y="2999232"/>
            <a:ext cx="4114800" cy="493776"/>
          </a:xfrm>
          <a:prstGeom prst="rect">
            <a:avLst/>
          </a:prstGeom>
          <a:solidFill>
            <a:srgbClr val="FFFFFF"/>
          </a:solidFill>
          <a:ln w="6350">
            <a:solidFill>
              <a:srgbClr val="E2E8F0"/>
            </a:solidFill>
            <a:prstDash val="solid"/>
          </a:ln>
        </p:spPr>
      </p:sp>
      <p:sp>
        <p:nvSpPr>
          <p:cNvPr id="34" name="Text 32"/>
          <p:cNvSpPr/>
          <p:nvPr/>
        </p:nvSpPr>
        <p:spPr>
          <a:xfrm>
            <a:off x="4882896" y="2999232"/>
            <a:ext cx="1371600" cy="493776"/>
          </a:xfrm>
          <a:prstGeom prst="rect">
            <a:avLst/>
          </a:prstGeom>
          <a:noFill/>
          <a:ln/>
        </p:spPr>
        <p:txBody>
          <a:bodyPr wrap="square" rtlCol="0" anchor="ctr"/>
          <a:lstStyle/>
          <a:p>
            <a:pPr marL="0" indent="0">
              <a:buNone/>
            </a:pPr>
            <a:r>
              <a:rPr lang="en-US" sz="1050" b="1" dirty="0">
                <a:solidFill>
                  <a:srgbClr val="2563EB"/>
                </a:solidFill>
                <a:latin typeface="Calibri" pitchFamily="34" charset="0"/>
                <a:ea typeface="Calibri" pitchFamily="34" charset="-122"/>
                <a:cs typeface="Calibri" pitchFamily="34" charset="-120"/>
              </a:rPr>
              <a:t>IDE</a:t>
            </a:r>
            <a:endParaRPr lang="en-US" sz="1050" dirty="0"/>
          </a:p>
        </p:txBody>
      </p:sp>
      <p:sp>
        <p:nvSpPr>
          <p:cNvPr id="35" name="Text 33"/>
          <p:cNvSpPr/>
          <p:nvPr/>
        </p:nvSpPr>
        <p:spPr>
          <a:xfrm>
            <a:off x="6309360" y="2999232"/>
            <a:ext cx="2468880" cy="4937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Visual Studio Code / PyCharm</a:t>
            </a:r>
            <a:endParaRPr lang="en-US" sz="1000" dirty="0"/>
          </a:p>
        </p:txBody>
      </p:sp>
      <p:sp>
        <p:nvSpPr>
          <p:cNvPr id="36" name="Shape 34"/>
          <p:cNvSpPr/>
          <p:nvPr/>
        </p:nvSpPr>
        <p:spPr>
          <a:xfrm>
            <a:off x="4773168" y="3566160"/>
            <a:ext cx="4114800" cy="493776"/>
          </a:xfrm>
          <a:prstGeom prst="rect">
            <a:avLst/>
          </a:prstGeom>
          <a:solidFill>
            <a:srgbClr val="F8FAFC"/>
          </a:solidFill>
          <a:ln w="6350">
            <a:solidFill>
              <a:srgbClr val="E2E8F0"/>
            </a:solidFill>
            <a:prstDash val="solid"/>
          </a:ln>
        </p:spPr>
      </p:sp>
      <p:sp>
        <p:nvSpPr>
          <p:cNvPr id="37" name="Text 35"/>
          <p:cNvSpPr/>
          <p:nvPr/>
        </p:nvSpPr>
        <p:spPr>
          <a:xfrm>
            <a:off x="4882896" y="3566160"/>
            <a:ext cx="1371600" cy="493776"/>
          </a:xfrm>
          <a:prstGeom prst="rect">
            <a:avLst/>
          </a:prstGeom>
          <a:noFill/>
          <a:ln/>
        </p:spPr>
        <p:txBody>
          <a:bodyPr wrap="square" rtlCol="0" anchor="ctr"/>
          <a:lstStyle/>
          <a:p>
            <a:pPr marL="0" indent="0">
              <a:buNone/>
            </a:pPr>
            <a:r>
              <a:rPr lang="en-US" sz="1050" b="1" dirty="0">
                <a:solidFill>
                  <a:srgbClr val="2563EB"/>
                </a:solidFill>
                <a:latin typeface="Calibri" pitchFamily="34" charset="0"/>
                <a:ea typeface="Calibri" pitchFamily="34" charset="-122"/>
                <a:cs typeface="Calibri" pitchFamily="34" charset="-120"/>
              </a:rPr>
              <a:t>Version Control</a:t>
            </a:r>
            <a:endParaRPr lang="en-US" sz="1050" dirty="0"/>
          </a:p>
        </p:txBody>
      </p:sp>
      <p:sp>
        <p:nvSpPr>
          <p:cNvPr id="38" name="Text 36"/>
          <p:cNvSpPr/>
          <p:nvPr/>
        </p:nvSpPr>
        <p:spPr>
          <a:xfrm>
            <a:off x="6309360" y="3566160"/>
            <a:ext cx="2468880" cy="4937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Git with GitHub</a:t>
            </a:r>
            <a:endParaRPr lang="en-US" sz="1000" dirty="0"/>
          </a:p>
        </p:txBody>
      </p:sp>
      <p:sp>
        <p:nvSpPr>
          <p:cNvPr id="39" name="Shape 37"/>
          <p:cNvSpPr/>
          <p:nvPr/>
        </p:nvSpPr>
        <p:spPr>
          <a:xfrm>
            <a:off x="4773168" y="4133088"/>
            <a:ext cx="4114800" cy="493776"/>
          </a:xfrm>
          <a:prstGeom prst="rect">
            <a:avLst/>
          </a:prstGeom>
          <a:solidFill>
            <a:srgbClr val="FFFFFF"/>
          </a:solidFill>
          <a:ln w="6350">
            <a:solidFill>
              <a:srgbClr val="E2E8F0"/>
            </a:solidFill>
            <a:prstDash val="solid"/>
          </a:ln>
        </p:spPr>
      </p:sp>
      <p:sp>
        <p:nvSpPr>
          <p:cNvPr id="40" name="Text 38"/>
          <p:cNvSpPr/>
          <p:nvPr/>
        </p:nvSpPr>
        <p:spPr>
          <a:xfrm>
            <a:off x="4882896" y="4133088"/>
            <a:ext cx="1371600" cy="493776"/>
          </a:xfrm>
          <a:prstGeom prst="rect">
            <a:avLst/>
          </a:prstGeom>
          <a:noFill/>
          <a:ln/>
        </p:spPr>
        <p:txBody>
          <a:bodyPr wrap="square" rtlCol="0" anchor="ctr"/>
          <a:lstStyle/>
          <a:p>
            <a:pPr marL="0" indent="0">
              <a:buNone/>
            </a:pPr>
            <a:r>
              <a:rPr lang="en-US" sz="1050" b="1" dirty="0">
                <a:solidFill>
                  <a:srgbClr val="2563EB"/>
                </a:solidFill>
                <a:latin typeface="Calibri" pitchFamily="34" charset="0"/>
                <a:ea typeface="Calibri" pitchFamily="34" charset="-122"/>
                <a:cs typeface="Calibri" pitchFamily="34" charset="-120"/>
              </a:rPr>
              <a:t>Deployment</a:t>
            </a:r>
            <a:endParaRPr lang="en-US" sz="1050" dirty="0"/>
          </a:p>
        </p:txBody>
      </p:sp>
      <p:sp>
        <p:nvSpPr>
          <p:cNvPr id="41" name="Text 39"/>
          <p:cNvSpPr/>
          <p:nvPr/>
        </p:nvSpPr>
        <p:spPr>
          <a:xfrm>
            <a:off x="6309360" y="4133088"/>
            <a:ext cx="2468880" cy="4937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Docker (for cloud deployment)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g.  Novelty of the Project</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8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Text 6"/>
          <p:cNvSpPr/>
          <p:nvPr/>
        </p:nvSpPr>
        <p:spPr>
          <a:xfrm>
            <a:off x="365760" y="804672"/>
            <a:ext cx="8412480" cy="329184"/>
          </a:xfrm>
          <a:prstGeom prst="rect">
            <a:avLst/>
          </a:prstGeom>
          <a:noFill/>
          <a:ln/>
        </p:spPr>
        <p:txBody>
          <a:bodyPr wrap="square" rtlCol="0" anchor="ctr"/>
          <a:lstStyle/>
          <a:p>
            <a:pPr marL="0" indent="0">
              <a:buNone/>
            </a:pPr>
            <a:r>
              <a:rPr lang="en-US" sz="1350" b="1" dirty="0">
                <a:solidFill>
                  <a:srgbClr val="1E3A5F"/>
                </a:solidFill>
                <a:latin typeface="Calibri" pitchFamily="34" charset="0"/>
                <a:ea typeface="Calibri" pitchFamily="34" charset="-122"/>
                <a:cs typeface="Calibri" pitchFamily="34" charset="-120"/>
              </a:rPr>
              <a:t>What makes this project unique?</a:t>
            </a:r>
            <a:endParaRPr lang="en-US" sz="1350" dirty="0"/>
          </a:p>
        </p:txBody>
      </p:sp>
      <p:sp>
        <p:nvSpPr>
          <p:cNvPr id="9" name="Shape 7"/>
          <p:cNvSpPr/>
          <p:nvPr/>
        </p:nvSpPr>
        <p:spPr>
          <a:xfrm>
            <a:off x="256032" y="1280160"/>
            <a:ext cx="512064" cy="512064"/>
          </a:xfrm>
          <a:prstGeom prst="ellipse">
            <a:avLst/>
          </a:prstGeom>
          <a:solidFill>
            <a:srgbClr val="2563EB"/>
          </a:solidFill>
          <a:ln w="12700">
            <a:solidFill>
              <a:srgbClr val="2563EB"/>
            </a:solidFill>
            <a:prstDash val="solid"/>
          </a:ln>
        </p:spPr>
      </p:sp>
      <p:sp>
        <p:nvSpPr>
          <p:cNvPr id="10" name="Text 8"/>
          <p:cNvSpPr/>
          <p:nvPr/>
        </p:nvSpPr>
        <p:spPr>
          <a:xfrm>
            <a:off x="256032" y="1280160"/>
            <a:ext cx="512064" cy="51206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Shape 9"/>
          <p:cNvSpPr/>
          <p:nvPr/>
        </p:nvSpPr>
        <p:spPr>
          <a:xfrm>
            <a:off x="877824" y="1207008"/>
            <a:ext cx="7991856" cy="658368"/>
          </a:xfrm>
          <a:prstGeom prst="rect">
            <a:avLst/>
          </a:prstGeom>
          <a:solidFill>
            <a:srgbClr val="FFFFFF"/>
          </a:solidFill>
          <a:ln w="10160">
            <a:solidFill>
              <a:srgbClr val="E2E8F0"/>
            </a:solidFill>
            <a:prstDash val="solid"/>
          </a:ln>
          <a:effectLst>
            <a:outerShdw blurRad="76200" dist="25400" dir="8100000" algn="bl" rotWithShape="0">
              <a:srgbClr val="000000">
                <a:alpha val="10000"/>
              </a:srgbClr>
            </a:outerShdw>
          </a:effectLst>
        </p:spPr>
      </p:sp>
      <p:sp>
        <p:nvSpPr>
          <p:cNvPr id="12" name="Text 10"/>
          <p:cNvSpPr/>
          <p:nvPr/>
        </p:nvSpPr>
        <p:spPr>
          <a:xfrm>
            <a:off x="987552" y="1243584"/>
            <a:ext cx="7790688" cy="585216"/>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Entropy + CUSUM Integration — </a:t>
            </a:r>
            <a:r>
              <a:rPr lang="en-US" sz="1100" dirty="0">
                <a:solidFill>
                  <a:srgbClr val="1A1A2E"/>
                </a:solidFill>
                <a:latin typeface="Calibri" pitchFamily="34" charset="0"/>
                <a:ea typeface="Calibri" pitchFamily="34" charset="-122"/>
                <a:cs typeface="Calibri" pitchFamily="34" charset="-120"/>
              </a:rPr>
              <a:t>Unique combination of Shannon Entropy and CUSUM change detection in a unified real-time pipeline — faster and more accurate than conventional methods.</a:t>
            </a:r>
            <a:endParaRPr lang="en-US" sz="1100" dirty="0"/>
          </a:p>
        </p:txBody>
      </p:sp>
      <p:sp>
        <p:nvSpPr>
          <p:cNvPr id="13" name="Shape 11"/>
          <p:cNvSpPr/>
          <p:nvPr/>
        </p:nvSpPr>
        <p:spPr>
          <a:xfrm>
            <a:off x="256032" y="2002536"/>
            <a:ext cx="512064" cy="512064"/>
          </a:xfrm>
          <a:prstGeom prst="ellipse">
            <a:avLst/>
          </a:prstGeom>
          <a:solidFill>
            <a:srgbClr val="2563EB"/>
          </a:solidFill>
          <a:ln w="12700">
            <a:solidFill>
              <a:srgbClr val="2563EB"/>
            </a:solidFill>
            <a:prstDash val="solid"/>
          </a:ln>
        </p:spPr>
      </p:sp>
      <p:sp>
        <p:nvSpPr>
          <p:cNvPr id="14" name="Text 12"/>
          <p:cNvSpPr/>
          <p:nvPr/>
        </p:nvSpPr>
        <p:spPr>
          <a:xfrm>
            <a:off x="256032" y="2002536"/>
            <a:ext cx="512064" cy="51206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Shape 13"/>
          <p:cNvSpPr/>
          <p:nvPr/>
        </p:nvSpPr>
        <p:spPr>
          <a:xfrm>
            <a:off x="877824" y="1929384"/>
            <a:ext cx="7991856" cy="658368"/>
          </a:xfrm>
          <a:prstGeom prst="rect">
            <a:avLst/>
          </a:prstGeom>
          <a:solidFill>
            <a:srgbClr val="FFFFFF"/>
          </a:solidFill>
          <a:ln w="10160">
            <a:solidFill>
              <a:srgbClr val="E2E8F0"/>
            </a:solidFill>
            <a:prstDash val="solid"/>
          </a:ln>
          <a:effectLst>
            <a:outerShdw blurRad="76200" dist="25400" dir="8100000" algn="bl" rotWithShape="0">
              <a:srgbClr val="000000">
                <a:alpha val="10000"/>
              </a:srgbClr>
            </a:outerShdw>
          </a:effectLst>
        </p:spPr>
      </p:sp>
      <p:sp>
        <p:nvSpPr>
          <p:cNvPr id="16" name="Text 14"/>
          <p:cNvSpPr/>
          <p:nvPr/>
        </p:nvSpPr>
        <p:spPr>
          <a:xfrm>
            <a:off x="987552" y="1965960"/>
            <a:ext cx="7790688" cy="585216"/>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Multi-Feature Entropy Analysis — </a:t>
            </a:r>
            <a:r>
              <a:rPr lang="en-US" sz="1100" dirty="0">
                <a:solidFill>
                  <a:srgbClr val="1A1A2E"/>
                </a:solidFill>
                <a:latin typeface="Calibri" pitchFamily="34" charset="0"/>
                <a:ea typeface="Calibri" pitchFamily="34" charset="-122"/>
                <a:cs typeface="Calibri" pitchFamily="34" charset="-120"/>
              </a:rPr>
              <a:t>Simultaneously monitors entropy across source IP, destination port, packet size, and protocol — a rich multi-dimensional anomaly view.</a:t>
            </a:r>
            <a:endParaRPr lang="en-US" sz="1100" dirty="0"/>
          </a:p>
        </p:txBody>
      </p:sp>
      <p:sp>
        <p:nvSpPr>
          <p:cNvPr id="17" name="Shape 15"/>
          <p:cNvSpPr/>
          <p:nvPr/>
        </p:nvSpPr>
        <p:spPr>
          <a:xfrm>
            <a:off x="256032" y="2724912"/>
            <a:ext cx="512064" cy="512064"/>
          </a:xfrm>
          <a:prstGeom prst="ellipse">
            <a:avLst/>
          </a:prstGeom>
          <a:solidFill>
            <a:srgbClr val="2563EB"/>
          </a:solidFill>
          <a:ln w="12700">
            <a:solidFill>
              <a:srgbClr val="2563EB"/>
            </a:solidFill>
            <a:prstDash val="solid"/>
          </a:ln>
        </p:spPr>
      </p:sp>
      <p:sp>
        <p:nvSpPr>
          <p:cNvPr id="18" name="Text 16"/>
          <p:cNvSpPr/>
          <p:nvPr/>
        </p:nvSpPr>
        <p:spPr>
          <a:xfrm>
            <a:off x="256032" y="2724912"/>
            <a:ext cx="512064" cy="51206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Shape 17"/>
          <p:cNvSpPr/>
          <p:nvPr/>
        </p:nvSpPr>
        <p:spPr>
          <a:xfrm>
            <a:off x="877824" y="2651760"/>
            <a:ext cx="7991856" cy="658368"/>
          </a:xfrm>
          <a:prstGeom prst="rect">
            <a:avLst/>
          </a:prstGeom>
          <a:solidFill>
            <a:srgbClr val="FFFFFF"/>
          </a:solidFill>
          <a:ln w="10160">
            <a:solidFill>
              <a:srgbClr val="E2E8F0"/>
            </a:solidFill>
            <a:prstDash val="solid"/>
          </a:ln>
          <a:effectLst>
            <a:outerShdw blurRad="76200" dist="25400" dir="8100000" algn="bl" rotWithShape="0">
              <a:srgbClr val="000000">
                <a:alpha val="10000"/>
              </a:srgbClr>
            </a:outerShdw>
          </a:effectLst>
        </p:spPr>
      </p:sp>
      <p:sp>
        <p:nvSpPr>
          <p:cNvPr id="20" name="Text 18"/>
          <p:cNvSpPr/>
          <p:nvPr/>
        </p:nvSpPr>
        <p:spPr>
          <a:xfrm>
            <a:off x="987552" y="2688336"/>
            <a:ext cx="7790688" cy="585216"/>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Interactive Tkinter GUI — </a:t>
            </a:r>
            <a:r>
              <a:rPr lang="en-US" sz="1100" dirty="0">
                <a:solidFill>
                  <a:srgbClr val="1A1A2E"/>
                </a:solidFill>
                <a:latin typeface="Calibri" pitchFamily="34" charset="0"/>
                <a:ea typeface="Calibri" pitchFamily="34" charset="-122"/>
                <a:cs typeface="Calibri" pitchFamily="34" charset="-120"/>
              </a:rPr>
              <a:t>Built-in graphical interface lets non-technical users upload datasets, visualise distributions, train models and get results — no command-line needed.</a:t>
            </a:r>
            <a:endParaRPr lang="en-US" sz="1100" dirty="0"/>
          </a:p>
        </p:txBody>
      </p:sp>
      <p:sp>
        <p:nvSpPr>
          <p:cNvPr id="21" name="Shape 19"/>
          <p:cNvSpPr/>
          <p:nvPr/>
        </p:nvSpPr>
        <p:spPr>
          <a:xfrm>
            <a:off x="256032" y="3447288"/>
            <a:ext cx="512064" cy="512064"/>
          </a:xfrm>
          <a:prstGeom prst="ellipse">
            <a:avLst/>
          </a:prstGeom>
          <a:solidFill>
            <a:srgbClr val="2563EB"/>
          </a:solidFill>
          <a:ln w="12700">
            <a:solidFill>
              <a:srgbClr val="2563EB"/>
            </a:solidFill>
            <a:prstDash val="solid"/>
          </a:ln>
        </p:spPr>
      </p:sp>
      <p:sp>
        <p:nvSpPr>
          <p:cNvPr id="22" name="Text 20"/>
          <p:cNvSpPr/>
          <p:nvPr/>
        </p:nvSpPr>
        <p:spPr>
          <a:xfrm>
            <a:off x="256032" y="3447288"/>
            <a:ext cx="512064" cy="51206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Shape 21"/>
          <p:cNvSpPr/>
          <p:nvPr/>
        </p:nvSpPr>
        <p:spPr>
          <a:xfrm>
            <a:off x="877824" y="3374136"/>
            <a:ext cx="7991856" cy="658368"/>
          </a:xfrm>
          <a:prstGeom prst="rect">
            <a:avLst/>
          </a:prstGeom>
          <a:solidFill>
            <a:srgbClr val="FFFFFF"/>
          </a:solidFill>
          <a:ln w="10160">
            <a:solidFill>
              <a:srgbClr val="E2E8F0"/>
            </a:solidFill>
            <a:prstDash val="solid"/>
          </a:ln>
          <a:effectLst>
            <a:outerShdw blurRad="76200" dist="25400" dir="8100000" algn="bl" rotWithShape="0">
              <a:srgbClr val="000000">
                <a:alpha val="10000"/>
              </a:srgbClr>
            </a:outerShdw>
          </a:effectLst>
        </p:spPr>
      </p:sp>
      <p:sp>
        <p:nvSpPr>
          <p:cNvPr id="24" name="Text 22"/>
          <p:cNvSpPr/>
          <p:nvPr/>
        </p:nvSpPr>
        <p:spPr>
          <a:xfrm>
            <a:off x="987552" y="3410712"/>
            <a:ext cx="7790688" cy="585216"/>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End-to-End Open-Source Pipeline — </a:t>
            </a:r>
            <a:r>
              <a:rPr lang="en-US" sz="1100" dirty="0">
                <a:solidFill>
                  <a:srgbClr val="1A1A2E"/>
                </a:solidFill>
                <a:latin typeface="Calibri" pitchFamily="34" charset="0"/>
                <a:ea typeface="Calibri" pitchFamily="34" charset="-122"/>
                <a:cs typeface="Calibri" pitchFamily="34" charset="-120"/>
              </a:rPr>
              <a:t>Complete pipeline from data ingestion → preprocessing → entropy computation → CUSUM detection → ML classification → reporting. Fully transparent.</a:t>
            </a:r>
            <a:endParaRPr lang="en-US" sz="1100" dirty="0"/>
          </a:p>
        </p:txBody>
      </p:sp>
      <p:sp>
        <p:nvSpPr>
          <p:cNvPr id="25" name="Shape 23"/>
          <p:cNvSpPr/>
          <p:nvPr/>
        </p:nvSpPr>
        <p:spPr>
          <a:xfrm>
            <a:off x="256032" y="4169664"/>
            <a:ext cx="512064" cy="512064"/>
          </a:xfrm>
          <a:prstGeom prst="ellipse">
            <a:avLst/>
          </a:prstGeom>
          <a:solidFill>
            <a:srgbClr val="2563EB"/>
          </a:solidFill>
          <a:ln w="12700">
            <a:solidFill>
              <a:srgbClr val="2563EB"/>
            </a:solidFill>
            <a:prstDash val="solid"/>
          </a:ln>
        </p:spPr>
      </p:sp>
      <p:sp>
        <p:nvSpPr>
          <p:cNvPr id="26" name="Text 24"/>
          <p:cNvSpPr/>
          <p:nvPr/>
        </p:nvSpPr>
        <p:spPr>
          <a:xfrm>
            <a:off x="256032" y="4169664"/>
            <a:ext cx="512064" cy="51206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Shape 25"/>
          <p:cNvSpPr/>
          <p:nvPr/>
        </p:nvSpPr>
        <p:spPr>
          <a:xfrm>
            <a:off x="877824" y="4096512"/>
            <a:ext cx="7991856" cy="658368"/>
          </a:xfrm>
          <a:prstGeom prst="rect">
            <a:avLst/>
          </a:prstGeom>
          <a:solidFill>
            <a:srgbClr val="FFFFFF"/>
          </a:solidFill>
          <a:ln w="10160">
            <a:solidFill>
              <a:srgbClr val="E2E8F0"/>
            </a:solidFill>
            <a:prstDash val="solid"/>
          </a:ln>
          <a:effectLst>
            <a:outerShdw blurRad="76200" dist="25400" dir="8100000" algn="bl" rotWithShape="0">
              <a:srgbClr val="000000">
                <a:alpha val="10000"/>
              </a:srgbClr>
            </a:outerShdw>
          </a:effectLst>
        </p:spPr>
      </p:sp>
      <p:sp>
        <p:nvSpPr>
          <p:cNvPr id="28" name="Text 26"/>
          <p:cNvSpPr/>
          <p:nvPr/>
        </p:nvSpPr>
        <p:spPr>
          <a:xfrm>
            <a:off x="987552" y="4133088"/>
            <a:ext cx="7790688" cy="585216"/>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92% Accuracy — Validated on Real Data — </a:t>
            </a:r>
            <a:r>
              <a:rPr lang="en-US" sz="1100" dirty="0">
                <a:solidFill>
                  <a:srgbClr val="1A1A2E"/>
                </a:solidFill>
                <a:latin typeface="Calibri" pitchFamily="34" charset="0"/>
                <a:ea typeface="Calibri" pitchFamily="34" charset="-122"/>
                <a:cs typeface="Calibri" pitchFamily="34" charset="-120"/>
              </a:rPr>
              <a:t>Evaluated on real-world DDoS datasets with confusion matrix, precision-recall benchmarks — outperforming both signature-based and standalone ML approaches.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h.  System Architecture</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9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Shape 6"/>
          <p:cNvSpPr/>
          <p:nvPr/>
        </p:nvSpPr>
        <p:spPr>
          <a:xfrm>
            <a:off x="256032" y="822960"/>
            <a:ext cx="5303520" cy="658368"/>
          </a:xfrm>
          <a:prstGeom prst="rect">
            <a:avLst/>
          </a:prstGeom>
          <a:solidFill>
            <a:srgbClr val="1E3A5F"/>
          </a:solidFill>
          <a:ln w="12700">
            <a:solidFill>
              <a:srgbClr val="1E3A5F"/>
            </a:solidFill>
            <a:prstDash val="solid"/>
          </a:ln>
          <a:effectLst>
            <a:outerShdw blurRad="76200" dist="25400" dir="8100000" algn="bl" rotWithShape="0">
              <a:srgbClr val="000000">
                <a:alpha val="10000"/>
              </a:srgbClr>
            </a:outerShdw>
          </a:effectLst>
        </p:spPr>
      </p:sp>
      <p:sp>
        <p:nvSpPr>
          <p:cNvPr id="9" name="Text 7"/>
          <p:cNvSpPr/>
          <p:nvPr/>
        </p:nvSpPr>
        <p:spPr>
          <a:xfrm>
            <a:off x="347472" y="822960"/>
            <a:ext cx="2926080" cy="65836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Layer 1  —  Data Ingestion</a:t>
            </a:r>
            <a:endParaRPr lang="en-US" sz="1150" dirty="0"/>
          </a:p>
        </p:txBody>
      </p:sp>
      <p:sp>
        <p:nvSpPr>
          <p:cNvPr id="10" name="Text 8"/>
          <p:cNvSpPr/>
          <p:nvPr/>
        </p:nvSpPr>
        <p:spPr>
          <a:xfrm>
            <a:off x="3383280" y="822960"/>
            <a:ext cx="2011680" cy="658368"/>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CSV / NetFlow / PCAP</a:t>
            </a:r>
            <a:endParaRPr lang="en-US" sz="1050" dirty="0"/>
          </a:p>
        </p:txBody>
      </p:sp>
      <p:sp>
        <p:nvSpPr>
          <p:cNvPr id="11" name="Shape 9"/>
          <p:cNvSpPr/>
          <p:nvPr/>
        </p:nvSpPr>
        <p:spPr>
          <a:xfrm>
            <a:off x="1371600" y="1481328"/>
            <a:ext cx="640080" cy="128016"/>
          </a:xfrm>
          <a:prstGeom prst="rect">
            <a:avLst/>
          </a:prstGeom>
          <a:solidFill>
            <a:srgbClr val="E2E8F0"/>
          </a:solidFill>
          <a:ln w="12700">
            <a:solidFill>
              <a:srgbClr val="E2E8F0"/>
            </a:solidFill>
            <a:prstDash val="solid"/>
          </a:ln>
        </p:spPr>
      </p:sp>
      <p:sp>
        <p:nvSpPr>
          <p:cNvPr id="12" name="Shape 10"/>
          <p:cNvSpPr/>
          <p:nvPr/>
        </p:nvSpPr>
        <p:spPr>
          <a:xfrm>
            <a:off x="256032" y="1609344"/>
            <a:ext cx="5303520" cy="658368"/>
          </a:xfrm>
          <a:prstGeom prst="rect">
            <a:avLst/>
          </a:prstGeom>
          <a:solidFill>
            <a:srgbClr val="1D4ED8"/>
          </a:solidFill>
          <a:ln w="12700">
            <a:solidFill>
              <a:srgbClr val="1D4ED8"/>
            </a:solidFill>
            <a:prstDash val="solid"/>
          </a:ln>
          <a:effectLst>
            <a:outerShdw blurRad="76200" dist="25400" dir="8100000" algn="bl" rotWithShape="0">
              <a:srgbClr val="000000">
                <a:alpha val="10000"/>
              </a:srgbClr>
            </a:outerShdw>
          </a:effectLst>
        </p:spPr>
      </p:sp>
      <p:sp>
        <p:nvSpPr>
          <p:cNvPr id="13" name="Text 11"/>
          <p:cNvSpPr/>
          <p:nvPr/>
        </p:nvSpPr>
        <p:spPr>
          <a:xfrm>
            <a:off x="347472" y="1609344"/>
            <a:ext cx="2926080" cy="65836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Layer 2  —  Preprocessing</a:t>
            </a:r>
            <a:endParaRPr lang="en-US" sz="1150" dirty="0"/>
          </a:p>
        </p:txBody>
      </p:sp>
      <p:sp>
        <p:nvSpPr>
          <p:cNvPr id="14" name="Text 12"/>
          <p:cNvSpPr/>
          <p:nvPr/>
        </p:nvSpPr>
        <p:spPr>
          <a:xfrm>
            <a:off x="3383280" y="1609344"/>
            <a:ext cx="2011680" cy="658368"/>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Feature extraction, encoding, normalisation</a:t>
            </a:r>
            <a:endParaRPr lang="en-US" sz="1050" dirty="0"/>
          </a:p>
        </p:txBody>
      </p:sp>
      <p:sp>
        <p:nvSpPr>
          <p:cNvPr id="15" name="Shape 13"/>
          <p:cNvSpPr/>
          <p:nvPr/>
        </p:nvSpPr>
        <p:spPr>
          <a:xfrm>
            <a:off x="1371600" y="2267712"/>
            <a:ext cx="640080" cy="128016"/>
          </a:xfrm>
          <a:prstGeom prst="rect">
            <a:avLst/>
          </a:prstGeom>
          <a:solidFill>
            <a:srgbClr val="E2E8F0"/>
          </a:solidFill>
          <a:ln w="12700">
            <a:solidFill>
              <a:srgbClr val="E2E8F0"/>
            </a:solidFill>
            <a:prstDash val="solid"/>
          </a:ln>
        </p:spPr>
      </p:sp>
      <p:sp>
        <p:nvSpPr>
          <p:cNvPr id="16" name="Shape 14"/>
          <p:cNvSpPr/>
          <p:nvPr/>
        </p:nvSpPr>
        <p:spPr>
          <a:xfrm>
            <a:off x="256032" y="2395728"/>
            <a:ext cx="5303520" cy="658368"/>
          </a:xfrm>
          <a:prstGeom prst="rect">
            <a:avLst/>
          </a:prstGeom>
          <a:solidFill>
            <a:srgbClr val="2563EB"/>
          </a:solidFill>
          <a:ln w="12700">
            <a:solidFill>
              <a:srgbClr val="2563EB"/>
            </a:solidFill>
            <a:prstDash val="solid"/>
          </a:ln>
          <a:effectLst>
            <a:outerShdw blurRad="76200" dist="25400" dir="8100000" algn="bl" rotWithShape="0">
              <a:srgbClr val="000000">
                <a:alpha val="10000"/>
              </a:srgbClr>
            </a:outerShdw>
          </a:effectLst>
        </p:spPr>
      </p:sp>
      <p:sp>
        <p:nvSpPr>
          <p:cNvPr id="17" name="Text 15"/>
          <p:cNvSpPr/>
          <p:nvPr/>
        </p:nvSpPr>
        <p:spPr>
          <a:xfrm>
            <a:off x="347472" y="2395728"/>
            <a:ext cx="2926080" cy="65836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Layer 3  —  Entropy Computation</a:t>
            </a:r>
            <a:endParaRPr lang="en-US" sz="1150" dirty="0"/>
          </a:p>
        </p:txBody>
      </p:sp>
      <p:sp>
        <p:nvSpPr>
          <p:cNvPr id="18" name="Text 16"/>
          <p:cNvSpPr/>
          <p:nvPr/>
        </p:nvSpPr>
        <p:spPr>
          <a:xfrm>
            <a:off x="3383280" y="2395728"/>
            <a:ext cx="2011680" cy="658368"/>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Shannon Entropy over sliding windows</a:t>
            </a:r>
            <a:endParaRPr lang="en-US" sz="1050" dirty="0"/>
          </a:p>
        </p:txBody>
      </p:sp>
      <p:sp>
        <p:nvSpPr>
          <p:cNvPr id="19" name="Shape 17"/>
          <p:cNvSpPr/>
          <p:nvPr/>
        </p:nvSpPr>
        <p:spPr>
          <a:xfrm>
            <a:off x="1371600" y="3054096"/>
            <a:ext cx="640080" cy="128016"/>
          </a:xfrm>
          <a:prstGeom prst="rect">
            <a:avLst/>
          </a:prstGeom>
          <a:solidFill>
            <a:srgbClr val="E2E8F0"/>
          </a:solidFill>
          <a:ln w="12700">
            <a:solidFill>
              <a:srgbClr val="E2E8F0"/>
            </a:solidFill>
            <a:prstDash val="solid"/>
          </a:ln>
        </p:spPr>
      </p:sp>
      <p:sp>
        <p:nvSpPr>
          <p:cNvPr id="20" name="Shape 18"/>
          <p:cNvSpPr/>
          <p:nvPr/>
        </p:nvSpPr>
        <p:spPr>
          <a:xfrm>
            <a:off x="256032" y="3182112"/>
            <a:ext cx="5303520" cy="658368"/>
          </a:xfrm>
          <a:prstGeom prst="rect">
            <a:avLst/>
          </a:prstGeom>
          <a:solidFill>
            <a:srgbClr val="3B82F6"/>
          </a:solidFill>
          <a:ln w="12700">
            <a:solidFill>
              <a:srgbClr val="3B82F6"/>
            </a:solidFill>
            <a:prstDash val="solid"/>
          </a:ln>
          <a:effectLst>
            <a:outerShdw blurRad="76200" dist="25400" dir="8100000" algn="bl" rotWithShape="0">
              <a:srgbClr val="000000">
                <a:alpha val="10000"/>
              </a:srgbClr>
            </a:outerShdw>
          </a:effectLst>
        </p:spPr>
      </p:sp>
      <p:sp>
        <p:nvSpPr>
          <p:cNvPr id="21" name="Text 19"/>
          <p:cNvSpPr/>
          <p:nvPr/>
        </p:nvSpPr>
        <p:spPr>
          <a:xfrm>
            <a:off x="347472" y="3182112"/>
            <a:ext cx="2926080" cy="65836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Layer 4  —  CUSUM Decision</a:t>
            </a:r>
            <a:endParaRPr lang="en-US" sz="1150" dirty="0"/>
          </a:p>
        </p:txBody>
      </p:sp>
      <p:sp>
        <p:nvSpPr>
          <p:cNvPr id="22" name="Text 20"/>
          <p:cNvSpPr/>
          <p:nvPr/>
        </p:nvSpPr>
        <p:spPr>
          <a:xfrm>
            <a:off x="3383280" y="3182112"/>
            <a:ext cx="2011680" cy="658368"/>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Change detection → Attack alert generation</a:t>
            </a:r>
            <a:endParaRPr lang="en-US" sz="1050" dirty="0"/>
          </a:p>
        </p:txBody>
      </p:sp>
      <p:sp>
        <p:nvSpPr>
          <p:cNvPr id="23" name="Shape 21"/>
          <p:cNvSpPr/>
          <p:nvPr/>
        </p:nvSpPr>
        <p:spPr>
          <a:xfrm>
            <a:off x="1371600" y="3840480"/>
            <a:ext cx="640080" cy="128016"/>
          </a:xfrm>
          <a:prstGeom prst="rect">
            <a:avLst/>
          </a:prstGeom>
          <a:solidFill>
            <a:srgbClr val="E2E8F0"/>
          </a:solidFill>
          <a:ln w="12700">
            <a:solidFill>
              <a:srgbClr val="E2E8F0"/>
            </a:solidFill>
            <a:prstDash val="solid"/>
          </a:ln>
        </p:spPr>
      </p:sp>
      <p:sp>
        <p:nvSpPr>
          <p:cNvPr id="24" name="Shape 22"/>
          <p:cNvSpPr/>
          <p:nvPr/>
        </p:nvSpPr>
        <p:spPr>
          <a:xfrm>
            <a:off x="256032" y="3968496"/>
            <a:ext cx="5303520" cy="658368"/>
          </a:xfrm>
          <a:prstGeom prst="rect">
            <a:avLst/>
          </a:prstGeom>
          <a:solidFill>
            <a:srgbClr val="60A5FA"/>
          </a:solidFill>
          <a:ln w="12700">
            <a:solidFill>
              <a:srgbClr val="60A5FA"/>
            </a:solidFill>
            <a:prstDash val="solid"/>
          </a:ln>
          <a:effectLst>
            <a:outerShdw blurRad="76200" dist="25400" dir="8100000" algn="bl" rotWithShape="0">
              <a:srgbClr val="000000">
                <a:alpha val="10000"/>
              </a:srgbClr>
            </a:outerShdw>
          </a:effectLst>
        </p:spPr>
      </p:sp>
      <p:sp>
        <p:nvSpPr>
          <p:cNvPr id="25" name="Text 23"/>
          <p:cNvSpPr/>
          <p:nvPr/>
        </p:nvSpPr>
        <p:spPr>
          <a:xfrm>
            <a:off x="347472" y="3968496"/>
            <a:ext cx="2926080" cy="65836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Layer 5  —  Presentation (GUI)</a:t>
            </a:r>
            <a:endParaRPr lang="en-US" sz="1150" dirty="0"/>
          </a:p>
        </p:txBody>
      </p:sp>
      <p:sp>
        <p:nvSpPr>
          <p:cNvPr id="26" name="Text 24"/>
          <p:cNvSpPr/>
          <p:nvPr/>
        </p:nvSpPr>
        <p:spPr>
          <a:xfrm>
            <a:off x="3383280" y="3968496"/>
            <a:ext cx="2011680" cy="658368"/>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Tkinter — visualise, test, report</a:t>
            </a:r>
            <a:endParaRPr lang="en-US" sz="1050" dirty="0"/>
          </a:p>
        </p:txBody>
      </p:sp>
      <p:sp>
        <p:nvSpPr>
          <p:cNvPr id="27" name="Text 25"/>
          <p:cNvSpPr/>
          <p:nvPr/>
        </p:nvSpPr>
        <p:spPr>
          <a:xfrm>
            <a:off x="5742432" y="804672"/>
            <a:ext cx="3108960" cy="329184"/>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Architecture Diagram:</a:t>
            </a:r>
            <a:endParaRPr lang="en-US" sz="1100" dirty="0"/>
          </a:p>
        </p:txBody>
      </p:sp>
      <p:pic>
        <p:nvPicPr>
          <p:cNvPr id="28" name="Image 0" descr="preencoded.png"/>
          <p:cNvPicPr>
            <a:picLocks noChangeAspect="1"/>
          </p:cNvPicPr>
          <p:nvPr/>
        </p:nvPicPr>
        <p:blipFill>
          <a:blip r:embed="rId3"/>
          <a:stretch>
            <a:fillRect/>
          </a:stretch>
        </p:blipFill>
        <p:spPr>
          <a:xfrm>
            <a:off x="5742432" y="1170432"/>
            <a:ext cx="3108960" cy="3566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i.  Project Modules</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10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Shape 6"/>
          <p:cNvSpPr/>
          <p:nvPr/>
        </p:nvSpPr>
        <p:spPr>
          <a:xfrm>
            <a:off x="228600" y="804672"/>
            <a:ext cx="4251960" cy="126187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9" name="Shape 7"/>
          <p:cNvSpPr/>
          <p:nvPr/>
        </p:nvSpPr>
        <p:spPr>
          <a:xfrm>
            <a:off x="228600" y="804672"/>
            <a:ext cx="4251960" cy="402336"/>
          </a:xfrm>
          <a:prstGeom prst="rect">
            <a:avLst/>
          </a:prstGeom>
          <a:solidFill>
            <a:srgbClr val="DBEAFE"/>
          </a:solidFill>
          <a:ln w="12700">
            <a:solidFill>
              <a:srgbClr val="DBEAFE"/>
            </a:solidFill>
            <a:prstDash val="solid"/>
          </a:ln>
        </p:spPr>
      </p:sp>
      <p:sp>
        <p:nvSpPr>
          <p:cNvPr id="10" name="Text 8"/>
          <p:cNvSpPr/>
          <p:nvPr/>
        </p:nvSpPr>
        <p:spPr>
          <a:xfrm>
            <a:off x="338328" y="804672"/>
            <a:ext cx="4023360" cy="40233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1. Data Loader Module</a:t>
            </a:r>
            <a:endParaRPr lang="en-US" sz="1200" dirty="0"/>
          </a:p>
        </p:txBody>
      </p:sp>
      <p:sp>
        <p:nvSpPr>
          <p:cNvPr id="11" name="Text 9"/>
          <p:cNvSpPr/>
          <p:nvPr/>
        </p:nvSpPr>
        <p:spPr>
          <a:xfrm>
            <a:off x="338328" y="1243584"/>
            <a:ext cx="4023360" cy="74980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Reads the DDoS CSV dataset into Pandas DataFrame. Validates schema and reports class distribution: Normal vs Attack.</a:t>
            </a:r>
            <a:endParaRPr lang="en-US" sz="1050" dirty="0"/>
          </a:p>
        </p:txBody>
      </p:sp>
      <p:sp>
        <p:nvSpPr>
          <p:cNvPr id="12" name="Shape 10"/>
          <p:cNvSpPr/>
          <p:nvPr/>
        </p:nvSpPr>
        <p:spPr>
          <a:xfrm>
            <a:off x="4709160" y="804672"/>
            <a:ext cx="4251960" cy="126187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3" name="Shape 11"/>
          <p:cNvSpPr/>
          <p:nvPr/>
        </p:nvSpPr>
        <p:spPr>
          <a:xfrm>
            <a:off x="4709160" y="804672"/>
            <a:ext cx="4251960" cy="402336"/>
          </a:xfrm>
          <a:prstGeom prst="rect">
            <a:avLst/>
          </a:prstGeom>
          <a:solidFill>
            <a:srgbClr val="DBEAFE"/>
          </a:solidFill>
          <a:ln w="12700">
            <a:solidFill>
              <a:srgbClr val="DBEAFE"/>
            </a:solidFill>
            <a:prstDash val="solid"/>
          </a:ln>
        </p:spPr>
      </p:sp>
      <p:sp>
        <p:nvSpPr>
          <p:cNvPr id="14" name="Text 12"/>
          <p:cNvSpPr/>
          <p:nvPr/>
        </p:nvSpPr>
        <p:spPr>
          <a:xfrm>
            <a:off x="4818888" y="804672"/>
            <a:ext cx="4023360" cy="40233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2. Feature Extractor Module</a:t>
            </a:r>
            <a:endParaRPr lang="en-US" sz="1200" dirty="0"/>
          </a:p>
        </p:txBody>
      </p:sp>
      <p:sp>
        <p:nvSpPr>
          <p:cNvPr id="15" name="Text 13"/>
          <p:cNvSpPr/>
          <p:nvPr/>
        </p:nvSpPr>
        <p:spPr>
          <a:xfrm>
            <a:off x="4818888" y="1243584"/>
            <a:ext cx="4023360" cy="74980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Selects key features: source IP, destination port, protocol type, packet size, connection duration. Encodes categorical fields.</a:t>
            </a:r>
            <a:endParaRPr lang="en-US" sz="1050" dirty="0"/>
          </a:p>
        </p:txBody>
      </p:sp>
      <p:sp>
        <p:nvSpPr>
          <p:cNvPr id="16" name="Shape 14"/>
          <p:cNvSpPr/>
          <p:nvPr/>
        </p:nvSpPr>
        <p:spPr>
          <a:xfrm>
            <a:off x="228600" y="2194560"/>
            <a:ext cx="4251960" cy="126187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7" name="Shape 15"/>
          <p:cNvSpPr/>
          <p:nvPr/>
        </p:nvSpPr>
        <p:spPr>
          <a:xfrm>
            <a:off x="228600" y="2194560"/>
            <a:ext cx="4251960" cy="402336"/>
          </a:xfrm>
          <a:prstGeom prst="rect">
            <a:avLst/>
          </a:prstGeom>
          <a:solidFill>
            <a:srgbClr val="DBEAFE"/>
          </a:solidFill>
          <a:ln w="12700">
            <a:solidFill>
              <a:srgbClr val="DBEAFE"/>
            </a:solidFill>
            <a:prstDash val="solid"/>
          </a:ln>
        </p:spPr>
      </p:sp>
      <p:sp>
        <p:nvSpPr>
          <p:cNvPr id="18" name="Text 16"/>
          <p:cNvSpPr/>
          <p:nvPr/>
        </p:nvSpPr>
        <p:spPr>
          <a:xfrm>
            <a:off x="338328" y="2194560"/>
            <a:ext cx="4023360" cy="40233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3. Normalisation Module</a:t>
            </a:r>
            <a:endParaRPr lang="en-US" sz="1200" dirty="0"/>
          </a:p>
        </p:txBody>
      </p:sp>
      <p:sp>
        <p:nvSpPr>
          <p:cNvPr id="19" name="Text 17"/>
          <p:cNvSpPr/>
          <p:nvPr/>
        </p:nvSpPr>
        <p:spPr>
          <a:xfrm>
            <a:off x="338328" y="2633472"/>
            <a:ext cx="4023360" cy="74980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Min-max normalisation scales all features to [0,1]. Parameters learned from training set and applied to test data.</a:t>
            </a:r>
            <a:endParaRPr lang="en-US" sz="1050" dirty="0"/>
          </a:p>
        </p:txBody>
      </p:sp>
      <p:sp>
        <p:nvSpPr>
          <p:cNvPr id="20" name="Shape 18"/>
          <p:cNvSpPr/>
          <p:nvPr/>
        </p:nvSpPr>
        <p:spPr>
          <a:xfrm>
            <a:off x="4709160" y="2194560"/>
            <a:ext cx="4251960" cy="126187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1" name="Shape 19"/>
          <p:cNvSpPr/>
          <p:nvPr/>
        </p:nvSpPr>
        <p:spPr>
          <a:xfrm>
            <a:off x="4709160" y="2194560"/>
            <a:ext cx="4251960" cy="402336"/>
          </a:xfrm>
          <a:prstGeom prst="rect">
            <a:avLst/>
          </a:prstGeom>
          <a:solidFill>
            <a:srgbClr val="DBEAFE"/>
          </a:solidFill>
          <a:ln w="12700">
            <a:solidFill>
              <a:srgbClr val="DBEAFE"/>
            </a:solidFill>
            <a:prstDash val="solid"/>
          </a:ln>
        </p:spPr>
      </p:sp>
      <p:sp>
        <p:nvSpPr>
          <p:cNvPr id="22" name="Text 20"/>
          <p:cNvSpPr/>
          <p:nvPr/>
        </p:nvSpPr>
        <p:spPr>
          <a:xfrm>
            <a:off x="4818888" y="2194560"/>
            <a:ext cx="4023360" cy="40233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4. Entropy Calculator</a:t>
            </a:r>
            <a:endParaRPr lang="en-US" sz="1200" dirty="0"/>
          </a:p>
        </p:txBody>
      </p:sp>
      <p:sp>
        <p:nvSpPr>
          <p:cNvPr id="23" name="Text 21"/>
          <p:cNvSpPr/>
          <p:nvPr/>
        </p:nvSpPr>
        <p:spPr>
          <a:xfrm>
            <a:off x="4818888" y="2633472"/>
            <a:ext cx="4023360" cy="74980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Computes Shannon Entropy H(X) = −Σ pᵢ·log₂(pᵢ) over sliding windows of N=100 flows for each selected feature.</a:t>
            </a:r>
            <a:endParaRPr lang="en-US" sz="1050" dirty="0"/>
          </a:p>
        </p:txBody>
      </p:sp>
      <p:sp>
        <p:nvSpPr>
          <p:cNvPr id="24" name="Shape 22"/>
          <p:cNvSpPr/>
          <p:nvPr/>
        </p:nvSpPr>
        <p:spPr>
          <a:xfrm>
            <a:off x="228600" y="3584448"/>
            <a:ext cx="4251960" cy="126187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5" name="Shape 23"/>
          <p:cNvSpPr/>
          <p:nvPr/>
        </p:nvSpPr>
        <p:spPr>
          <a:xfrm>
            <a:off x="228600" y="3584448"/>
            <a:ext cx="4251960" cy="402336"/>
          </a:xfrm>
          <a:prstGeom prst="rect">
            <a:avLst/>
          </a:prstGeom>
          <a:solidFill>
            <a:srgbClr val="DBEAFE"/>
          </a:solidFill>
          <a:ln w="12700">
            <a:solidFill>
              <a:srgbClr val="DBEAFE"/>
            </a:solidFill>
            <a:prstDash val="solid"/>
          </a:ln>
        </p:spPr>
      </p:sp>
      <p:sp>
        <p:nvSpPr>
          <p:cNvPr id="26" name="Text 24"/>
          <p:cNvSpPr/>
          <p:nvPr/>
        </p:nvSpPr>
        <p:spPr>
          <a:xfrm>
            <a:off x="338328" y="3584448"/>
            <a:ext cx="4023360" cy="40233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5. CUSUM Detector</a:t>
            </a:r>
            <a:endParaRPr lang="en-US" sz="1200" dirty="0"/>
          </a:p>
        </p:txBody>
      </p:sp>
      <p:sp>
        <p:nvSpPr>
          <p:cNvPr id="27" name="Text 25"/>
          <p:cNvSpPr/>
          <p:nvPr/>
        </p:nvSpPr>
        <p:spPr>
          <a:xfrm>
            <a:off x="338328" y="4023360"/>
            <a:ext cx="4023360" cy="74980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Tracks cumulative entropy deviation from baseline. Raises attack alert when statistic exceeds configured threshold.</a:t>
            </a:r>
            <a:endParaRPr lang="en-US" sz="1050" dirty="0"/>
          </a:p>
        </p:txBody>
      </p:sp>
      <p:sp>
        <p:nvSpPr>
          <p:cNvPr id="28" name="Shape 26"/>
          <p:cNvSpPr/>
          <p:nvPr/>
        </p:nvSpPr>
        <p:spPr>
          <a:xfrm>
            <a:off x="4709160" y="3584448"/>
            <a:ext cx="4251960" cy="126187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9" name="Shape 27"/>
          <p:cNvSpPr/>
          <p:nvPr/>
        </p:nvSpPr>
        <p:spPr>
          <a:xfrm>
            <a:off x="4709160" y="3584448"/>
            <a:ext cx="4251960" cy="402336"/>
          </a:xfrm>
          <a:prstGeom prst="rect">
            <a:avLst/>
          </a:prstGeom>
          <a:solidFill>
            <a:srgbClr val="DBEAFE"/>
          </a:solidFill>
          <a:ln w="12700">
            <a:solidFill>
              <a:srgbClr val="DBEAFE"/>
            </a:solidFill>
            <a:prstDash val="solid"/>
          </a:ln>
        </p:spPr>
      </p:sp>
      <p:sp>
        <p:nvSpPr>
          <p:cNvPr id="30" name="Text 28"/>
          <p:cNvSpPr/>
          <p:nvPr/>
        </p:nvSpPr>
        <p:spPr>
          <a:xfrm>
            <a:off x="4818888" y="3584448"/>
            <a:ext cx="4023360" cy="40233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6. Evaluation Module</a:t>
            </a:r>
            <a:endParaRPr lang="en-US" sz="1200" dirty="0"/>
          </a:p>
        </p:txBody>
      </p:sp>
      <p:sp>
        <p:nvSpPr>
          <p:cNvPr id="31" name="Text 29"/>
          <p:cNvSpPr/>
          <p:nvPr/>
        </p:nvSpPr>
        <p:spPr>
          <a:xfrm>
            <a:off x="4818888" y="4023360"/>
            <a:ext cx="4023360" cy="74980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Reports accuracy, precision, recall, F1-score and confusion matrix. Generates bar chart comparing multiple classifiers.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j.  UML Diagrams — Use Case Diagram</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11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Text 6"/>
          <p:cNvSpPr/>
          <p:nvPr/>
        </p:nvSpPr>
        <p:spPr>
          <a:xfrm>
            <a:off x="365760" y="786384"/>
            <a:ext cx="8412480" cy="31089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Shows interaction between the User and the DDoS Detection System:</a:t>
            </a:r>
            <a:endParaRPr lang="en-US" sz="1200" dirty="0"/>
          </a:p>
        </p:txBody>
      </p:sp>
      <p:pic>
        <p:nvPicPr>
          <p:cNvPr id="9" name="Image 0" descr="preencoded.png"/>
          <p:cNvPicPr>
            <a:picLocks noChangeAspect="1"/>
          </p:cNvPicPr>
          <p:nvPr/>
        </p:nvPicPr>
        <p:blipFill>
          <a:blip r:embed="rId3"/>
          <a:srcRect l="20277" t="20994" r="16518" b="25500"/>
          <a:stretch>
            <a:fillRect/>
          </a:stretch>
        </p:blipFill>
        <p:spPr>
          <a:xfrm>
            <a:off x="968542" y="1168507"/>
            <a:ext cx="5071311" cy="3231682"/>
          </a:xfrm>
          <a:prstGeom prst="rect">
            <a:avLst/>
          </a:prstGeom>
        </p:spPr>
      </p:pic>
      <p:sp>
        <p:nvSpPr>
          <p:cNvPr id="10" name="Shape 7"/>
          <p:cNvSpPr/>
          <p:nvPr/>
        </p:nvSpPr>
        <p:spPr>
          <a:xfrm>
            <a:off x="7082991" y="786384"/>
            <a:ext cx="1600200" cy="3840480"/>
          </a:xfrm>
          <a:prstGeom prst="rect">
            <a:avLst/>
          </a:prstGeom>
          <a:solidFill>
            <a:srgbClr val="F8FAFC"/>
          </a:solidFill>
          <a:ln w="10160">
            <a:solidFill>
              <a:srgbClr val="E2E8F0"/>
            </a:solidFill>
            <a:prstDash val="solid"/>
          </a:ln>
        </p:spPr>
      </p:sp>
      <p:sp>
        <p:nvSpPr>
          <p:cNvPr id="11" name="Text 8"/>
          <p:cNvSpPr/>
          <p:nvPr/>
        </p:nvSpPr>
        <p:spPr>
          <a:xfrm>
            <a:off x="7315200" y="950976"/>
            <a:ext cx="1463040" cy="274320"/>
          </a:xfrm>
          <a:prstGeom prst="rect">
            <a:avLst/>
          </a:prstGeom>
          <a:noFill/>
          <a:ln/>
        </p:spPr>
        <p:txBody>
          <a:bodyPr wrap="square" rtlCol="0" anchor="ctr"/>
          <a:lstStyle/>
          <a:p>
            <a:pPr marL="0" indent="0">
              <a:buNone/>
            </a:pPr>
            <a:r>
              <a:rPr lang="en-US" sz="950" b="1" dirty="0">
                <a:solidFill>
                  <a:srgbClr val="1E3A5F"/>
                </a:solidFill>
                <a:latin typeface="Calibri" pitchFamily="34" charset="0"/>
                <a:ea typeface="Calibri" pitchFamily="34" charset="-122"/>
                <a:cs typeface="Calibri" pitchFamily="34" charset="-120"/>
              </a:rPr>
              <a:t>Use Cases:</a:t>
            </a:r>
            <a:endParaRPr lang="en-US" sz="950" dirty="0"/>
          </a:p>
        </p:txBody>
      </p:sp>
      <p:sp>
        <p:nvSpPr>
          <p:cNvPr id="12" name="Text 9"/>
          <p:cNvSpPr/>
          <p:nvPr/>
        </p:nvSpPr>
        <p:spPr>
          <a:xfrm>
            <a:off x="7315200" y="1243584"/>
            <a:ext cx="1481328" cy="493776"/>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1. Upload DDOS Dataset</a:t>
            </a:r>
            <a:endParaRPr lang="en-US" sz="850" dirty="0"/>
          </a:p>
        </p:txBody>
      </p:sp>
      <p:sp>
        <p:nvSpPr>
          <p:cNvPr id="13" name="Text 10"/>
          <p:cNvSpPr/>
          <p:nvPr/>
        </p:nvSpPr>
        <p:spPr>
          <a:xfrm>
            <a:off x="7315200" y="1755648"/>
            <a:ext cx="1481328" cy="493776"/>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2. Preprocess Dataset</a:t>
            </a:r>
            <a:endParaRPr lang="en-US" sz="850" dirty="0"/>
          </a:p>
        </p:txBody>
      </p:sp>
      <p:sp>
        <p:nvSpPr>
          <p:cNvPr id="14" name="Text 11"/>
          <p:cNvSpPr/>
          <p:nvPr/>
        </p:nvSpPr>
        <p:spPr>
          <a:xfrm>
            <a:off x="7315200" y="2267712"/>
            <a:ext cx="1481328" cy="493776"/>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3. Normalize Training Features</a:t>
            </a:r>
            <a:endParaRPr lang="en-US" sz="850" dirty="0"/>
          </a:p>
        </p:txBody>
      </p:sp>
      <p:sp>
        <p:nvSpPr>
          <p:cNvPr id="15" name="Text 12"/>
          <p:cNvSpPr/>
          <p:nvPr/>
        </p:nvSpPr>
        <p:spPr>
          <a:xfrm>
            <a:off x="7315200" y="2779776"/>
            <a:ext cx="1481328" cy="493776"/>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4. Train CUSUM Entropy Model</a:t>
            </a:r>
            <a:endParaRPr lang="en-US" sz="850" dirty="0"/>
          </a:p>
        </p:txBody>
      </p:sp>
      <p:sp>
        <p:nvSpPr>
          <p:cNvPr id="16" name="Text 13"/>
          <p:cNvSpPr/>
          <p:nvPr/>
        </p:nvSpPr>
        <p:spPr>
          <a:xfrm>
            <a:off x="7315200" y="3291840"/>
            <a:ext cx="1481328" cy="493776"/>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5. Predict Attack from Test Data</a:t>
            </a:r>
            <a:endParaRPr lang="en-US" sz="850" dirty="0"/>
          </a:p>
        </p:txBody>
      </p:sp>
      <p:sp>
        <p:nvSpPr>
          <p:cNvPr id="17" name="Text 14"/>
          <p:cNvSpPr/>
          <p:nvPr/>
        </p:nvSpPr>
        <p:spPr>
          <a:xfrm>
            <a:off x="7315200" y="3803904"/>
            <a:ext cx="1481328" cy="493776"/>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6. Exit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j.  UML Diagrams — Class Diagram</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12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Text 6"/>
          <p:cNvSpPr/>
          <p:nvPr/>
        </p:nvSpPr>
        <p:spPr>
          <a:xfrm>
            <a:off x="365760" y="786384"/>
            <a:ext cx="8412480" cy="31089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Shows classes, attributes and methods of the system:</a:t>
            </a:r>
            <a:endParaRPr lang="en-US" sz="1200" dirty="0"/>
          </a:p>
        </p:txBody>
      </p:sp>
      <p:pic>
        <p:nvPicPr>
          <p:cNvPr id="9" name="Image 0" descr="preencoded.png"/>
          <p:cNvPicPr>
            <a:picLocks noChangeAspect="1"/>
          </p:cNvPicPr>
          <p:nvPr/>
        </p:nvPicPr>
        <p:blipFill>
          <a:blip r:embed="rId3"/>
          <a:srcRect l="34680" t="37923" r="31172" b="38440"/>
          <a:stretch>
            <a:fillRect/>
          </a:stretch>
        </p:blipFill>
        <p:spPr>
          <a:xfrm>
            <a:off x="824163" y="1008006"/>
            <a:ext cx="2797342" cy="2274690"/>
          </a:xfrm>
          <a:prstGeom prst="rect">
            <a:avLst/>
          </a:prstGeom>
        </p:spPr>
      </p:pic>
      <p:sp>
        <p:nvSpPr>
          <p:cNvPr id="10" name="Shape 7"/>
          <p:cNvSpPr/>
          <p:nvPr/>
        </p:nvSpPr>
        <p:spPr>
          <a:xfrm>
            <a:off x="4343400" y="914400"/>
            <a:ext cx="4535424" cy="3840480"/>
          </a:xfrm>
          <a:prstGeom prst="rect">
            <a:avLst/>
          </a:prstGeom>
          <a:solidFill>
            <a:srgbClr val="FFFFFF"/>
          </a:solidFill>
          <a:ln w="10160">
            <a:solidFill>
              <a:srgbClr val="E2E8F0"/>
            </a:solidFill>
            <a:prstDash val="solid"/>
          </a:ln>
          <a:effectLst>
            <a:outerShdw blurRad="76200" dist="25400" dir="8100000" algn="bl" rotWithShape="0">
              <a:srgbClr val="000000">
                <a:alpha val="10000"/>
              </a:srgbClr>
            </a:outerShdw>
          </a:effectLst>
        </p:spPr>
      </p:sp>
      <p:sp>
        <p:nvSpPr>
          <p:cNvPr id="11" name="Shape 8"/>
          <p:cNvSpPr/>
          <p:nvPr/>
        </p:nvSpPr>
        <p:spPr>
          <a:xfrm>
            <a:off x="4343400" y="914400"/>
            <a:ext cx="4535424" cy="402336"/>
          </a:xfrm>
          <a:prstGeom prst="rect">
            <a:avLst/>
          </a:prstGeom>
          <a:solidFill>
            <a:srgbClr val="DBEAFE"/>
          </a:solidFill>
          <a:ln w="12700">
            <a:solidFill>
              <a:srgbClr val="DBEAFE"/>
            </a:solidFill>
            <a:prstDash val="solid"/>
          </a:ln>
        </p:spPr>
      </p:sp>
      <p:sp>
        <p:nvSpPr>
          <p:cNvPr id="12" name="Text 9"/>
          <p:cNvSpPr/>
          <p:nvPr/>
        </p:nvSpPr>
        <p:spPr>
          <a:xfrm>
            <a:off x="4434840" y="914400"/>
            <a:ext cx="4343400" cy="402336"/>
          </a:xfrm>
          <a:prstGeom prst="rect">
            <a:avLst/>
          </a:prstGeom>
          <a:noFill/>
          <a:ln/>
        </p:spPr>
        <p:txBody>
          <a:bodyPr wrap="square"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Class Descriptions</a:t>
            </a:r>
            <a:endParaRPr lang="en-US" sz="1250" dirty="0"/>
          </a:p>
        </p:txBody>
      </p:sp>
      <p:sp>
        <p:nvSpPr>
          <p:cNvPr id="13" name="Shape 10"/>
          <p:cNvSpPr/>
          <p:nvPr/>
        </p:nvSpPr>
        <p:spPr>
          <a:xfrm>
            <a:off x="4343400" y="1389888"/>
            <a:ext cx="4535424" cy="493776"/>
          </a:xfrm>
          <a:prstGeom prst="rect">
            <a:avLst/>
          </a:prstGeom>
          <a:solidFill>
            <a:srgbClr val="F8FAFC"/>
          </a:solidFill>
          <a:ln w="3810">
            <a:solidFill>
              <a:srgbClr val="E2E8F0"/>
            </a:solidFill>
            <a:prstDash val="solid"/>
          </a:ln>
        </p:spPr>
      </p:sp>
      <p:sp>
        <p:nvSpPr>
          <p:cNvPr id="14" name="Text 11"/>
          <p:cNvSpPr/>
          <p:nvPr/>
        </p:nvSpPr>
        <p:spPr>
          <a:xfrm>
            <a:off x="4434840" y="1389888"/>
            <a:ext cx="2103120" cy="493776"/>
          </a:xfrm>
          <a:prstGeom prst="rect">
            <a:avLst/>
          </a:prstGeom>
          <a:noFill/>
          <a:ln/>
        </p:spPr>
        <p:txBody>
          <a:bodyPr wrap="square" rtlCol="0" anchor="ctr"/>
          <a:lstStyle/>
          <a:p>
            <a:pPr marL="0" indent="0">
              <a:buNone/>
            </a:pPr>
            <a:r>
              <a:rPr lang="en-US" sz="950" b="1" dirty="0">
                <a:solidFill>
                  <a:srgbClr val="2563EB"/>
                </a:solidFill>
                <a:latin typeface="Calibri" pitchFamily="34" charset="0"/>
                <a:ea typeface="Calibri" pitchFamily="34" charset="-122"/>
                <a:cs typeface="Calibri" pitchFamily="34" charset="-120"/>
              </a:rPr>
              <a:t>uploadDDOSDataset()</a:t>
            </a:r>
            <a:endParaRPr lang="en-US" sz="950" dirty="0"/>
          </a:p>
        </p:txBody>
      </p:sp>
      <p:sp>
        <p:nvSpPr>
          <p:cNvPr id="15" name="Text 12"/>
          <p:cNvSpPr/>
          <p:nvPr/>
        </p:nvSpPr>
        <p:spPr>
          <a:xfrm>
            <a:off x="6601968" y="1389888"/>
            <a:ext cx="2194560" cy="49377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Loads the DDoS CSV file into the system</a:t>
            </a:r>
            <a:endParaRPr lang="en-US" sz="950" dirty="0"/>
          </a:p>
        </p:txBody>
      </p:sp>
      <p:sp>
        <p:nvSpPr>
          <p:cNvPr id="16" name="Shape 13"/>
          <p:cNvSpPr/>
          <p:nvPr/>
        </p:nvSpPr>
        <p:spPr>
          <a:xfrm>
            <a:off x="4343400" y="1920240"/>
            <a:ext cx="4535424" cy="493776"/>
          </a:xfrm>
          <a:prstGeom prst="rect">
            <a:avLst/>
          </a:prstGeom>
          <a:solidFill>
            <a:srgbClr val="FFFFFF"/>
          </a:solidFill>
          <a:ln w="3810">
            <a:solidFill>
              <a:srgbClr val="E2E8F0"/>
            </a:solidFill>
            <a:prstDash val="solid"/>
          </a:ln>
        </p:spPr>
      </p:sp>
      <p:sp>
        <p:nvSpPr>
          <p:cNvPr id="17" name="Text 14"/>
          <p:cNvSpPr/>
          <p:nvPr/>
        </p:nvSpPr>
        <p:spPr>
          <a:xfrm>
            <a:off x="4434840" y="1920240"/>
            <a:ext cx="2103120" cy="493776"/>
          </a:xfrm>
          <a:prstGeom prst="rect">
            <a:avLst/>
          </a:prstGeom>
          <a:noFill/>
          <a:ln/>
        </p:spPr>
        <p:txBody>
          <a:bodyPr wrap="square" rtlCol="0" anchor="ctr"/>
          <a:lstStyle/>
          <a:p>
            <a:pPr marL="0" indent="0">
              <a:buNone/>
            </a:pPr>
            <a:r>
              <a:rPr lang="en-US" sz="950" b="1" dirty="0">
                <a:solidFill>
                  <a:srgbClr val="2563EB"/>
                </a:solidFill>
                <a:latin typeface="Calibri" pitchFamily="34" charset="0"/>
                <a:ea typeface="Calibri" pitchFamily="34" charset="-122"/>
                <a:cs typeface="Calibri" pitchFamily="34" charset="-120"/>
              </a:rPr>
              <a:t>preprocessDataset()</a:t>
            </a:r>
            <a:endParaRPr lang="en-US" sz="950" dirty="0"/>
          </a:p>
        </p:txBody>
      </p:sp>
      <p:sp>
        <p:nvSpPr>
          <p:cNvPr id="18" name="Text 15"/>
          <p:cNvSpPr/>
          <p:nvPr/>
        </p:nvSpPr>
        <p:spPr>
          <a:xfrm>
            <a:off x="6601968" y="1920240"/>
            <a:ext cx="2194560" cy="49377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Cleans and prepares raw data for analysis</a:t>
            </a:r>
            <a:endParaRPr lang="en-US" sz="950" dirty="0"/>
          </a:p>
        </p:txBody>
      </p:sp>
      <p:sp>
        <p:nvSpPr>
          <p:cNvPr id="19" name="Shape 16"/>
          <p:cNvSpPr/>
          <p:nvPr/>
        </p:nvSpPr>
        <p:spPr>
          <a:xfrm>
            <a:off x="4343400" y="2450592"/>
            <a:ext cx="4535424" cy="493776"/>
          </a:xfrm>
          <a:prstGeom prst="rect">
            <a:avLst/>
          </a:prstGeom>
          <a:solidFill>
            <a:srgbClr val="F8FAFC"/>
          </a:solidFill>
          <a:ln w="3810">
            <a:solidFill>
              <a:srgbClr val="E2E8F0"/>
            </a:solidFill>
            <a:prstDash val="solid"/>
          </a:ln>
        </p:spPr>
      </p:sp>
      <p:sp>
        <p:nvSpPr>
          <p:cNvPr id="20" name="Text 17"/>
          <p:cNvSpPr/>
          <p:nvPr/>
        </p:nvSpPr>
        <p:spPr>
          <a:xfrm>
            <a:off x="4434840" y="2450592"/>
            <a:ext cx="2103120" cy="493776"/>
          </a:xfrm>
          <a:prstGeom prst="rect">
            <a:avLst/>
          </a:prstGeom>
          <a:noFill/>
          <a:ln/>
        </p:spPr>
        <p:txBody>
          <a:bodyPr wrap="square" rtlCol="0" anchor="ctr"/>
          <a:lstStyle/>
          <a:p>
            <a:pPr marL="0" indent="0">
              <a:buNone/>
            </a:pPr>
            <a:r>
              <a:rPr lang="en-US" sz="950" b="1" dirty="0">
                <a:solidFill>
                  <a:srgbClr val="2563EB"/>
                </a:solidFill>
                <a:latin typeface="Calibri" pitchFamily="34" charset="0"/>
                <a:ea typeface="Calibri" pitchFamily="34" charset="-122"/>
                <a:cs typeface="Calibri" pitchFamily="34" charset="-120"/>
              </a:rPr>
              <a:t>normalizeTrainingFeatures()</a:t>
            </a:r>
            <a:endParaRPr lang="en-US" sz="950" dirty="0"/>
          </a:p>
        </p:txBody>
      </p:sp>
      <p:sp>
        <p:nvSpPr>
          <p:cNvPr id="21" name="Text 18"/>
          <p:cNvSpPr/>
          <p:nvPr/>
        </p:nvSpPr>
        <p:spPr>
          <a:xfrm>
            <a:off x="6601968" y="2450592"/>
            <a:ext cx="2194560" cy="49377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Scales feature values to [0,1] range</a:t>
            </a:r>
            <a:endParaRPr lang="en-US" sz="950" dirty="0"/>
          </a:p>
        </p:txBody>
      </p:sp>
      <p:sp>
        <p:nvSpPr>
          <p:cNvPr id="22" name="Shape 19"/>
          <p:cNvSpPr/>
          <p:nvPr/>
        </p:nvSpPr>
        <p:spPr>
          <a:xfrm>
            <a:off x="4343400" y="2980944"/>
            <a:ext cx="4535424" cy="493776"/>
          </a:xfrm>
          <a:prstGeom prst="rect">
            <a:avLst/>
          </a:prstGeom>
          <a:solidFill>
            <a:srgbClr val="FFFFFF"/>
          </a:solidFill>
          <a:ln w="3810">
            <a:solidFill>
              <a:srgbClr val="E2E8F0"/>
            </a:solidFill>
            <a:prstDash val="solid"/>
          </a:ln>
        </p:spPr>
      </p:sp>
      <p:sp>
        <p:nvSpPr>
          <p:cNvPr id="23" name="Text 20"/>
          <p:cNvSpPr/>
          <p:nvPr/>
        </p:nvSpPr>
        <p:spPr>
          <a:xfrm>
            <a:off x="4434840" y="2980944"/>
            <a:ext cx="2103120" cy="493776"/>
          </a:xfrm>
          <a:prstGeom prst="rect">
            <a:avLst/>
          </a:prstGeom>
          <a:noFill/>
          <a:ln/>
        </p:spPr>
        <p:txBody>
          <a:bodyPr wrap="square" rtlCol="0" anchor="ctr"/>
          <a:lstStyle/>
          <a:p>
            <a:pPr marL="0" indent="0">
              <a:buNone/>
            </a:pPr>
            <a:r>
              <a:rPr lang="en-US" sz="950" b="1" dirty="0">
                <a:solidFill>
                  <a:srgbClr val="2563EB"/>
                </a:solidFill>
                <a:latin typeface="Calibri" pitchFamily="34" charset="0"/>
                <a:ea typeface="Calibri" pitchFamily="34" charset="-122"/>
                <a:cs typeface="Calibri" pitchFamily="34" charset="-120"/>
              </a:rPr>
              <a:t>trainCUSUMEntropyModel()</a:t>
            </a:r>
            <a:endParaRPr lang="en-US" sz="950" dirty="0"/>
          </a:p>
        </p:txBody>
      </p:sp>
      <p:sp>
        <p:nvSpPr>
          <p:cNvPr id="24" name="Text 21"/>
          <p:cNvSpPr/>
          <p:nvPr/>
        </p:nvSpPr>
        <p:spPr>
          <a:xfrm>
            <a:off x="6601968" y="2980944"/>
            <a:ext cx="2194560" cy="49377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Trains the entropy-based detection model</a:t>
            </a:r>
            <a:endParaRPr lang="en-US" sz="950" dirty="0"/>
          </a:p>
        </p:txBody>
      </p:sp>
      <p:sp>
        <p:nvSpPr>
          <p:cNvPr id="25" name="Shape 22"/>
          <p:cNvSpPr/>
          <p:nvPr/>
        </p:nvSpPr>
        <p:spPr>
          <a:xfrm>
            <a:off x="4343400" y="3511296"/>
            <a:ext cx="4535424" cy="493776"/>
          </a:xfrm>
          <a:prstGeom prst="rect">
            <a:avLst/>
          </a:prstGeom>
          <a:solidFill>
            <a:srgbClr val="F8FAFC"/>
          </a:solidFill>
          <a:ln w="3810">
            <a:solidFill>
              <a:srgbClr val="E2E8F0"/>
            </a:solidFill>
            <a:prstDash val="solid"/>
          </a:ln>
        </p:spPr>
      </p:sp>
      <p:sp>
        <p:nvSpPr>
          <p:cNvPr id="26" name="Text 23"/>
          <p:cNvSpPr/>
          <p:nvPr/>
        </p:nvSpPr>
        <p:spPr>
          <a:xfrm>
            <a:off x="4434840" y="3511296"/>
            <a:ext cx="2103120" cy="493776"/>
          </a:xfrm>
          <a:prstGeom prst="rect">
            <a:avLst/>
          </a:prstGeom>
          <a:noFill/>
          <a:ln/>
        </p:spPr>
        <p:txBody>
          <a:bodyPr wrap="square" rtlCol="0" anchor="ctr"/>
          <a:lstStyle/>
          <a:p>
            <a:pPr marL="0" indent="0">
              <a:buNone/>
            </a:pPr>
            <a:r>
              <a:rPr lang="en-US" sz="950" b="1" dirty="0">
                <a:solidFill>
                  <a:srgbClr val="2563EB"/>
                </a:solidFill>
                <a:latin typeface="Calibri" pitchFamily="34" charset="0"/>
                <a:ea typeface="Calibri" pitchFamily="34" charset="-122"/>
                <a:cs typeface="Calibri" pitchFamily="34" charset="-120"/>
              </a:rPr>
              <a:t>predictAttackFromTestData()</a:t>
            </a:r>
            <a:endParaRPr lang="en-US" sz="950" dirty="0"/>
          </a:p>
        </p:txBody>
      </p:sp>
      <p:sp>
        <p:nvSpPr>
          <p:cNvPr id="27" name="Text 24"/>
          <p:cNvSpPr/>
          <p:nvPr/>
        </p:nvSpPr>
        <p:spPr>
          <a:xfrm>
            <a:off x="6601968" y="3511296"/>
            <a:ext cx="2194560" cy="49377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Classifies test data as Normal or Attack</a:t>
            </a:r>
            <a:endParaRPr lang="en-US" sz="950" dirty="0"/>
          </a:p>
        </p:txBody>
      </p:sp>
      <p:sp>
        <p:nvSpPr>
          <p:cNvPr id="28" name="Shape 25"/>
          <p:cNvSpPr/>
          <p:nvPr/>
        </p:nvSpPr>
        <p:spPr>
          <a:xfrm>
            <a:off x="4343400" y="4041648"/>
            <a:ext cx="4535424" cy="493776"/>
          </a:xfrm>
          <a:prstGeom prst="rect">
            <a:avLst/>
          </a:prstGeom>
          <a:solidFill>
            <a:srgbClr val="FFFFFF"/>
          </a:solidFill>
          <a:ln w="3810">
            <a:solidFill>
              <a:srgbClr val="E2E8F0"/>
            </a:solidFill>
            <a:prstDash val="solid"/>
          </a:ln>
        </p:spPr>
      </p:sp>
      <p:sp>
        <p:nvSpPr>
          <p:cNvPr id="29" name="Text 26"/>
          <p:cNvSpPr/>
          <p:nvPr/>
        </p:nvSpPr>
        <p:spPr>
          <a:xfrm>
            <a:off x="4434840" y="4041648"/>
            <a:ext cx="2103120" cy="493776"/>
          </a:xfrm>
          <a:prstGeom prst="rect">
            <a:avLst/>
          </a:prstGeom>
          <a:noFill/>
          <a:ln/>
        </p:spPr>
        <p:txBody>
          <a:bodyPr wrap="square" rtlCol="0" anchor="ctr"/>
          <a:lstStyle/>
          <a:p>
            <a:pPr marL="0" indent="0">
              <a:buNone/>
            </a:pPr>
            <a:r>
              <a:rPr lang="en-US" sz="950" b="1" dirty="0">
                <a:solidFill>
                  <a:srgbClr val="2563EB"/>
                </a:solidFill>
                <a:latin typeface="Calibri" pitchFamily="34" charset="0"/>
                <a:ea typeface="Calibri" pitchFamily="34" charset="-122"/>
                <a:cs typeface="Calibri" pitchFamily="34" charset="-120"/>
              </a:rPr>
              <a:t>exist()</a:t>
            </a:r>
            <a:endParaRPr lang="en-US" sz="950" dirty="0"/>
          </a:p>
        </p:txBody>
      </p:sp>
      <p:sp>
        <p:nvSpPr>
          <p:cNvPr id="30" name="Text 27"/>
          <p:cNvSpPr/>
          <p:nvPr/>
        </p:nvSpPr>
        <p:spPr>
          <a:xfrm>
            <a:off x="6601968" y="4041648"/>
            <a:ext cx="2194560" cy="49377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Exits the application session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j.  UML Diagrams — Sequence Diagram</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13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Text 6"/>
          <p:cNvSpPr/>
          <p:nvPr/>
        </p:nvSpPr>
        <p:spPr>
          <a:xfrm>
            <a:off x="365760" y="786384"/>
            <a:ext cx="8412480" cy="31089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Shows interaction between User and Dataset across time — step-by-step flow of operations:</a:t>
            </a:r>
            <a:endParaRPr lang="en-US" sz="1200" dirty="0"/>
          </a:p>
        </p:txBody>
      </p:sp>
      <p:pic>
        <p:nvPicPr>
          <p:cNvPr id="9" name="Image 0" descr="preencoded.png"/>
          <p:cNvPicPr>
            <a:picLocks noChangeAspect="1"/>
          </p:cNvPicPr>
          <p:nvPr/>
        </p:nvPicPr>
        <p:blipFill>
          <a:blip r:embed="rId3"/>
          <a:srcRect l="13550" t="21632" r="11257" b="17975"/>
          <a:stretch>
            <a:fillRect/>
          </a:stretch>
        </p:blipFill>
        <p:spPr>
          <a:xfrm>
            <a:off x="697833" y="1289304"/>
            <a:ext cx="4325352" cy="3246119"/>
          </a:xfrm>
          <a:prstGeom prst="rect">
            <a:avLst/>
          </a:prstGeom>
        </p:spPr>
      </p:pic>
      <p:sp>
        <p:nvSpPr>
          <p:cNvPr id="10" name="Shape 7"/>
          <p:cNvSpPr/>
          <p:nvPr/>
        </p:nvSpPr>
        <p:spPr>
          <a:xfrm>
            <a:off x="5715000" y="914400"/>
            <a:ext cx="3163824" cy="3840480"/>
          </a:xfrm>
          <a:prstGeom prst="rect">
            <a:avLst/>
          </a:prstGeom>
          <a:solidFill>
            <a:srgbClr val="FFFFFF"/>
          </a:solidFill>
          <a:ln w="10160">
            <a:solidFill>
              <a:srgbClr val="E2E8F0"/>
            </a:solidFill>
            <a:prstDash val="solid"/>
          </a:ln>
          <a:effectLst>
            <a:outerShdw blurRad="76200" dist="25400" dir="8100000" algn="bl" rotWithShape="0">
              <a:srgbClr val="000000">
                <a:alpha val="10000"/>
              </a:srgbClr>
            </a:outerShdw>
          </a:effectLst>
        </p:spPr>
      </p:sp>
      <p:sp>
        <p:nvSpPr>
          <p:cNvPr id="11" name="Shape 8"/>
          <p:cNvSpPr/>
          <p:nvPr/>
        </p:nvSpPr>
        <p:spPr>
          <a:xfrm>
            <a:off x="5715000" y="914400"/>
            <a:ext cx="3163824" cy="402336"/>
          </a:xfrm>
          <a:prstGeom prst="rect">
            <a:avLst/>
          </a:prstGeom>
          <a:solidFill>
            <a:srgbClr val="DBEAFE"/>
          </a:solidFill>
          <a:ln w="12700">
            <a:solidFill>
              <a:srgbClr val="DBEAFE"/>
            </a:solidFill>
            <a:prstDash val="solid"/>
          </a:ln>
        </p:spPr>
      </p:sp>
      <p:sp>
        <p:nvSpPr>
          <p:cNvPr id="12" name="Text 9"/>
          <p:cNvSpPr/>
          <p:nvPr/>
        </p:nvSpPr>
        <p:spPr>
          <a:xfrm>
            <a:off x="5806440" y="914400"/>
            <a:ext cx="3017520" cy="40233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Sequence Steps</a:t>
            </a:r>
            <a:endParaRPr lang="en-US" sz="1200" dirty="0"/>
          </a:p>
        </p:txBody>
      </p:sp>
      <p:sp>
        <p:nvSpPr>
          <p:cNvPr id="13" name="Shape 10"/>
          <p:cNvSpPr/>
          <p:nvPr/>
        </p:nvSpPr>
        <p:spPr>
          <a:xfrm>
            <a:off x="5779008" y="1408176"/>
            <a:ext cx="256032" cy="256032"/>
          </a:xfrm>
          <a:prstGeom prst="ellipse">
            <a:avLst/>
          </a:prstGeom>
          <a:solidFill>
            <a:srgbClr val="2563EB"/>
          </a:solidFill>
          <a:ln w="12700">
            <a:solidFill>
              <a:srgbClr val="2563EB"/>
            </a:solidFill>
            <a:prstDash val="solid"/>
          </a:ln>
        </p:spPr>
      </p:sp>
      <p:sp>
        <p:nvSpPr>
          <p:cNvPr id="14" name="Text 11"/>
          <p:cNvSpPr/>
          <p:nvPr/>
        </p:nvSpPr>
        <p:spPr>
          <a:xfrm>
            <a:off x="6126480" y="1371600"/>
            <a:ext cx="2651760"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User → uploads DDOS dataset</a:t>
            </a:r>
            <a:endParaRPr lang="en-US" sz="1050" dirty="0"/>
          </a:p>
        </p:txBody>
      </p:sp>
      <p:sp>
        <p:nvSpPr>
          <p:cNvPr id="15" name="Shape 12"/>
          <p:cNvSpPr/>
          <p:nvPr/>
        </p:nvSpPr>
        <p:spPr>
          <a:xfrm>
            <a:off x="5779008" y="1938528"/>
            <a:ext cx="256032" cy="256032"/>
          </a:xfrm>
          <a:prstGeom prst="ellipse">
            <a:avLst/>
          </a:prstGeom>
          <a:solidFill>
            <a:srgbClr val="2563EB"/>
          </a:solidFill>
          <a:ln w="12700">
            <a:solidFill>
              <a:srgbClr val="2563EB"/>
            </a:solidFill>
            <a:prstDash val="solid"/>
          </a:ln>
        </p:spPr>
      </p:sp>
      <p:sp>
        <p:nvSpPr>
          <p:cNvPr id="16" name="Text 13"/>
          <p:cNvSpPr/>
          <p:nvPr/>
        </p:nvSpPr>
        <p:spPr>
          <a:xfrm>
            <a:off x="6126480" y="1901952"/>
            <a:ext cx="2651760"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User → preprocesses dataset</a:t>
            </a:r>
            <a:endParaRPr lang="en-US" sz="1050" dirty="0"/>
          </a:p>
        </p:txBody>
      </p:sp>
      <p:sp>
        <p:nvSpPr>
          <p:cNvPr id="17" name="Shape 14"/>
          <p:cNvSpPr/>
          <p:nvPr/>
        </p:nvSpPr>
        <p:spPr>
          <a:xfrm>
            <a:off x="5779008" y="2468880"/>
            <a:ext cx="256032" cy="256032"/>
          </a:xfrm>
          <a:prstGeom prst="ellipse">
            <a:avLst/>
          </a:prstGeom>
          <a:solidFill>
            <a:srgbClr val="2563EB"/>
          </a:solidFill>
          <a:ln w="12700">
            <a:solidFill>
              <a:srgbClr val="2563EB"/>
            </a:solidFill>
            <a:prstDash val="solid"/>
          </a:ln>
        </p:spPr>
      </p:sp>
      <p:sp>
        <p:nvSpPr>
          <p:cNvPr id="18" name="Text 15"/>
          <p:cNvSpPr/>
          <p:nvPr/>
        </p:nvSpPr>
        <p:spPr>
          <a:xfrm>
            <a:off x="6126480" y="2432304"/>
            <a:ext cx="2651760"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User → normalizes training features</a:t>
            </a:r>
            <a:endParaRPr lang="en-US" sz="1050" dirty="0"/>
          </a:p>
        </p:txBody>
      </p:sp>
      <p:sp>
        <p:nvSpPr>
          <p:cNvPr id="19" name="Shape 16"/>
          <p:cNvSpPr/>
          <p:nvPr/>
        </p:nvSpPr>
        <p:spPr>
          <a:xfrm>
            <a:off x="5779008" y="2999232"/>
            <a:ext cx="256032" cy="256032"/>
          </a:xfrm>
          <a:prstGeom prst="ellipse">
            <a:avLst/>
          </a:prstGeom>
          <a:solidFill>
            <a:srgbClr val="2563EB"/>
          </a:solidFill>
          <a:ln w="12700">
            <a:solidFill>
              <a:srgbClr val="2563EB"/>
            </a:solidFill>
            <a:prstDash val="solid"/>
          </a:ln>
        </p:spPr>
      </p:sp>
      <p:sp>
        <p:nvSpPr>
          <p:cNvPr id="20" name="Text 17"/>
          <p:cNvSpPr/>
          <p:nvPr/>
        </p:nvSpPr>
        <p:spPr>
          <a:xfrm>
            <a:off x="6126480" y="2962656"/>
            <a:ext cx="2651760"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User → trains CUSUM entropy model</a:t>
            </a:r>
            <a:endParaRPr lang="en-US" sz="1050" dirty="0"/>
          </a:p>
        </p:txBody>
      </p:sp>
      <p:sp>
        <p:nvSpPr>
          <p:cNvPr id="21" name="Shape 18"/>
          <p:cNvSpPr/>
          <p:nvPr/>
        </p:nvSpPr>
        <p:spPr>
          <a:xfrm>
            <a:off x="5779008" y="3529584"/>
            <a:ext cx="256032" cy="256032"/>
          </a:xfrm>
          <a:prstGeom prst="ellipse">
            <a:avLst/>
          </a:prstGeom>
          <a:solidFill>
            <a:srgbClr val="2563EB"/>
          </a:solidFill>
          <a:ln w="12700">
            <a:solidFill>
              <a:srgbClr val="2563EB"/>
            </a:solidFill>
            <a:prstDash val="solid"/>
          </a:ln>
        </p:spPr>
      </p:sp>
      <p:sp>
        <p:nvSpPr>
          <p:cNvPr id="22" name="Text 19"/>
          <p:cNvSpPr/>
          <p:nvPr/>
        </p:nvSpPr>
        <p:spPr>
          <a:xfrm>
            <a:off x="6126480" y="3493008"/>
            <a:ext cx="2651760"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User → predicts attack from test data</a:t>
            </a:r>
            <a:endParaRPr lang="en-US" sz="1050" dirty="0"/>
          </a:p>
        </p:txBody>
      </p:sp>
      <p:sp>
        <p:nvSpPr>
          <p:cNvPr id="23" name="Shape 20"/>
          <p:cNvSpPr/>
          <p:nvPr/>
        </p:nvSpPr>
        <p:spPr>
          <a:xfrm>
            <a:off x="5779008" y="4059936"/>
            <a:ext cx="256032" cy="256032"/>
          </a:xfrm>
          <a:prstGeom prst="ellipse">
            <a:avLst/>
          </a:prstGeom>
          <a:solidFill>
            <a:srgbClr val="2563EB"/>
          </a:solidFill>
          <a:ln w="12700">
            <a:solidFill>
              <a:srgbClr val="2563EB"/>
            </a:solidFill>
            <a:prstDash val="solid"/>
          </a:ln>
        </p:spPr>
      </p:sp>
      <p:sp>
        <p:nvSpPr>
          <p:cNvPr id="24" name="Text 21"/>
          <p:cNvSpPr/>
          <p:nvPr/>
        </p:nvSpPr>
        <p:spPr>
          <a:xfrm>
            <a:off x="6126480" y="4023360"/>
            <a:ext cx="2651760"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User → exits the session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j.  UML Diagrams — Activity / Collaboration Diagram</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14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Text 6"/>
          <p:cNvSpPr/>
          <p:nvPr/>
        </p:nvSpPr>
        <p:spPr>
          <a:xfrm>
            <a:off x="91440" y="859416"/>
            <a:ext cx="4913697" cy="310896"/>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Shows the collaboration between User and Dataset objects with numbered interaction sequences:</a:t>
            </a:r>
            <a:endParaRPr lang="en-US" sz="1200" dirty="0"/>
          </a:p>
        </p:txBody>
      </p:sp>
      <p:pic>
        <p:nvPicPr>
          <p:cNvPr id="9" name="Image 0" descr="preencoded.png"/>
          <p:cNvPicPr>
            <a:picLocks noChangeAspect="1"/>
          </p:cNvPicPr>
          <p:nvPr/>
        </p:nvPicPr>
        <p:blipFill>
          <a:blip r:embed="rId3"/>
          <a:srcRect l="31140" t="34736" r="31579" b="31822"/>
          <a:stretch>
            <a:fillRect/>
          </a:stretch>
        </p:blipFill>
        <p:spPr>
          <a:xfrm>
            <a:off x="705533" y="1389888"/>
            <a:ext cx="3345741" cy="2632991"/>
          </a:xfrm>
          <a:prstGeom prst="rect">
            <a:avLst/>
          </a:prstGeom>
        </p:spPr>
      </p:pic>
      <p:sp>
        <p:nvSpPr>
          <p:cNvPr id="10" name="Shape 7"/>
          <p:cNvSpPr/>
          <p:nvPr/>
        </p:nvSpPr>
        <p:spPr>
          <a:xfrm>
            <a:off x="5303520" y="914400"/>
            <a:ext cx="3566160" cy="3886200"/>
          </a:xfrm>
          <a:prstGeom prst="rect">
            <a:avLst/>
          </a:prstGeom>
          <a:solidFill>
            <a:srgbClr val="FFFFFF"/>
          </a:solidFill>
          <a:ln w="10160">
            <a:solidFill>
              <a:srgbClr val="E2E8F0"/>
            </a:solidFill>
            <a:prstDash val="solid"/>
          </a:ln>
          <a:effectLst>
            <a:outerShdw blurRad="76200" dist="25400" dir="8100000" algn="bl" rotWithShape="0">
              <a:srgbClr val="000000">
                <a:alpha val="10000"/>
              </a:srgbClr>
            </a:outerShdw>
          </a:effectLst>
        </p:spPr>
      </p:sp>
      <p:sp>
        <p:nvSpPr>
          <p:cNvPr id="11" name="Shape 8"/>
          <p:cNvSpPr/>
          <p:nvPr/>
        </p:nvSpPr>
        <p:spPr>
          <a:xfrm>
            <a:off x="5303520" y="914400"/>
            <a:ext cx="3566160" cy="402336"/>
          </a:xfrm>
          <a:prstGeom prst="rect">
            <a:avLst/>
          </a:prstGeom>
          <a:solidFill>
            <a:srgbClr val="DBEAFE"/>
          </a:solidFill>
          <a:ln w="12700">
            <a:solidFill>
              <a:srgbClr val="DBEAFE"/>
            </a:solidFill>
            <a:prstDash val="solid"/>
          </a:ln>
        </p:spPr>
      </p:sp>
      <p:sp>
        <p:nvSpPr>
          <p:cNvPr id="12" name="Text 9"/>
          <p:cNvSpPr/>
          <p:nvPr/>
        </p:nvSpPr>
        <p:spPr>
          <a:xfrm>
            <a:off x="5394960" y="914400"/>
            <a:ext cx="3429000" cy="402336"/>
          </a:xfrm>
          <a:prstGeom prst="rect">
            <a:avLst/>
          </a:prstGeom>
          <a:noFill/>
          <a:ln/>
        </p:spPr>
        <p:txBody>
          <a:bodyPr wrap="square"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Collaboration Interactions</a:t>
            </a:r>
            <a:endParaRPr lang="en-US" sz="1150" dirty="0"/>
          </a:p>
        </p:txBody>
      </p:sp>
      <p:sp>
        <p:nvSpPr>
          <p:cNvPr id="13" name="Shape 10"/>
          <p:cNvSpPr/>
          <p:nvPr/>
        </p:nvSpPr>
        <p:spPr>
          <a:xfrm>
            <a:off x="5376672" y="1435608"/>
            <a:ext cx="292608" cy="292608"/>
          </a:xfrm>
          <a:prstGeom prst="ellipse">
            <a:avLst/>
          </a:prstGeom>
          <a:solidFill>
            <a:srgbClr val="2563EB"/>
          </a:solidFill>
          <a:ln w="12700">
            <a:solidFill>
              <a:srgbClr val="2563EB"/>
            </a:solidFill>
            <a:prstDash val="solid"/>
          </a:ln>
        </p:spPr>
      </p:sp>
      <p:sp>
        <p:nvSpPr>
          <p:cNvPr id="14" name="Text 11"/>
          <p:cNvSpPr/>
          <p:nvPr/>
        </p:nvSpPr>
        <p:spPr>
          <a:xfrm>
            <a:off x="5376672" y="1435608"/>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5" name="Text 12"/>
          <p:cNvSpPr/>
          <p:nvPr/>
        </p:nvSpPr>
        <p:spPr>
          <a:xfrm>
            <a:off x="5742432" y="1389888"/>
            <a:ext cx="3017520" cy="292608"/>
          </a:xfrm>
          <a:prstGeom prst="rect">
            <a:avLst/>
          </a:prstGeom>
          <a:noFill/>
          <a:ln/>
        </p:spPr>
        <p:txBody>
          <a:bodyPr wrap="square" rtlCol="0" anchor="b"/>
          <a:lstStyle/>
          <a:p>
            <a:pPr marL="0" indent="0">
              <a:buNone/>
            </a:pPr>
            <a:r>
              <a:rPr lang="en-US" sz="1050" b="1" dirty="0">
                <a:solidFill>
                  <a:srgbClr val="1E3A5F"/>
                </a:solidFill>
                <a:latin typeface="Calibri" pitchFamily="34" charset="0"/>
                <a:ea typeface="Calibri" pitchFamily="34" charset="-122"/>
                <a:cs typeface="Calibri" pitchFamily="34" charset="-120"/>
              </a:rPr>
              <a:t>Upload DDOS Dataset</a:t>
            </a:r>
            <a:endParaRPr lang="en-US" sz="1050" dirty="0"/>
          </a:p>
        </p:txBody>
      </p:sp>
      <p:sp>
        <p:nvSpPr>
          <p:cNvPr id="16" name="Text 13"/>
          <p:cNvSpPr/>
          <p:nvPr/>
        </p:nvSpPr>
        <p:spPr>
          <a:xfrm>
            <a:off x="5742432" y="1664208"/>
            <a:ext cx="3017520" cy="23774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User sends dataset file to the system</a:t>
            </a:r>
            <a:endParaRPr lang="en-US" sz="950" dirty="0"/>
          </a:p>
        </p:txBody>
      </p:sp>
      <p:sp>
        <p:nvSpPr>
          <p:cNvPr id="17" name="Shape 14"/>
          <p:cNvSpPr/>
          <p:nvPr/>
        </p:nvSpPr>
        <p:spPr>
          <a:xfrm>
            <a:off x="5376672" y="1965960"/>
            <a:ext cx="292608" cy="292608"/>
          </a:xfrm>
          <a:prstGeom prst="ellipse">
            <a:avLst/>
          </a:prstGeom>
          <a:solidFill>
            <a:srgbClr val="2563EB"/>
          </a:solidFill>
          <a:ln w="12700">
            <a:solidFill>
              <a:srgbClr val="2563EB"/>
            </a:solidFill>
            <a:prstDash val="solid"/>
          </a:ln>
        </p:spPr>
      </p:sp>
      <p:sp>
        <p:nvSpPr>
          <p:cNvPr id="18" name="Text 15"/>
          <p:cNvSpPr/>
          <p:nvPr/>
        </p:nvSpPr>
        <p:spPr>
          <a:xfrm>
            <a:off x="5376672" y="1965960"/>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9" name="Text 16"/>
          <p:cNvSpPr/>
          <p:nvPr/>
        </p:nvSpPr>
        <p:spPr>
          <a:xfrm>
            <a:off x="5742432" y="1920240"/>
            <a:ext cx="3017520" cy="292608"/>
          </a:xfrm>
          <a:prstGeom prst="rect">
            <a:avLst/>
          </a:prstGeom>
          <a:noFill/>
          <a:ln/>
        </p:spPr>
        <p:txBody>
          <a:bodyPr wrap="square" rtlCol="0" anchor="b"/>
          <a:lstStyle/>
          <a:p>
            <a:pPr marL="0" indent="0">
              <a:buNone/>
            </a:pPr>
            <a:r>
              <a:rPr lang="en-US" sz="1050" b="1" dirty="0">
                <a:solidFill>
                  <a:srgbClr val="1E3A5F"/>
                </a:solidFill>
                <a:latin typeface="Calibri" pitchFamily="34" charset="0"/>
                <a:ea typeface="Calibri" pitchFamily="34" charset="-122"/>
                <a:cs typeface="Calibri" pitchFamily="34" charset="-120"/>
              </a:rPr>
              <a:t>Preprocess Dataset</a:t>
            </a:r>
            <a:endParaRPr lang="en-US" sz="1050" dirty="0"/>
          </a:p>
        </p:txBody>
      </p:sp>
      <p:sp>
        <p:nvSpPr>
          <p:cNvPr id="20" name="Text 17"/>
          <p:cNvSpPr/>
          <p:nvPr/>
        </p:nvSpPr>
        <p:spPr>
          <a:xfrm>
            <a:off x="5742432" y="2194560"/>
            <a:ext cx="3017520" cy="23774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System cleans and formats the data</a:t>
            </a:r>
            <a:endParaRPr lang="en-US" sz="950" dirty="0"/>
          </a:p>
        </p:txBody>
      </p:sp>
      <p:sp>
        <p:nvSpPr>
          <p:cNvPr id="21" name="Shape 18"/>
          <p:cNvSpPr/>
          <p:nvPr/>
        </p:nvSpPr>
        <p:spPr>
          <a:xfrm>
            <a:off x="5376672" y="2496312"/>
            <a:ext cx="292608" cy="292608"/>
          </a:xfrm>
          <a:prstGeom prst="ellipse">
            <a:avLst/>
          </a:prstGeom>
          <a:solidFill>
            <a:srgbClr val="2563EB"/>
          </a:solidFill>
          <a:ln w="12700">
            <a:solidFill>
              <a:srgbClr val="2563EB"/>
            </a:solidFill>
            <a:prstDash val="solid"/>
          </a:ln>
        </p:spPr>
      </p:sp>
      <p:sp>
        <p:nvSpPr>
          <p:cNvPr id="22" name="Text 19"/>
          <p:cNvSpPr/>
          <p:nvPr/>
        </p:nvSpPr>
        <p:spPr>
          <a:xfrm>
            <a:off x="5376672" y="2496312"/>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3" name="Text 20"/>
          <p:cNvSpPr/>
          <p:nvPr/>
        </p:nvSpPr>
        <p:spPr>
          <a:xfrm>
            <a:off x="5742432" y="2450592"/>
            <a:ext cx="3017520" cy="292608"/>
          </a:xfrm>
          <a:prstGeom prst="rect">
            <a:avLst/>
          </a:prstGeom>
          <a:noFill/>
          <a:ln/>
        </p:spPr>
        <p:txBody>
          <a:bodyPr wrap="square" rtlCol="0" anchor="b"/>
          <a:lstStyle/>
          <a:p>
            <a:pPr marL="0" indent="0">
              <a:buNone/>
            </a:pPr>
            <a:r>
              <a:rPr lang="en-US" sz="1050" b="1" dirty="0">
                <a:solidFill>
                  <a:srgbClr val="1E3A5F"/>
                </a:solidFill>
                <a:latin typeface="Calibri" pitchFamily="34" charset="0"/>
                <a:ea typeface="Calibri" pitchFamily="34" charset="-122"/>
                <a:cs typeface="Calibri" pitchFamily="34" charset="-120"/>
              </a:rPr>
              <a:t>Normalize Training Features</a:t>
            </a:r>
            <a:endParaRPr lang="en-US" sz="1050" dirty="0"/>
          </a:p>
        </p:txBody>
      </p:sp>
      <p:sp>
        <p:nvSpPr>
          <p:cNvPr id="24" name="Text 21"/>
          <p:cNvSpPr/>
          <p:nvPr/>
        </p:nvSpPr>
        <p:spPr>
          <a:xfrm>
            <a:off x="5742432" y="2724912"/>
            <a:ext cx="3017520" cy="23774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Features scaled to uniform range</a:t>
            </a:r>
            <a:endParaRPr lang="en-US" sz="950" dirty="0"/>
          </a:p>
        </p:txBody>
      </p:sp>
      <p:sp>
        <p:nvSpPr>
          <p:cNvPr id="25" name="Shape 22"/>
          <p:cNvSpPr/>
          <p:nvPr/>
        </p:nvSpPr>
        <p:spPr>
          <a:xfrm>
            <a:off x="5376672" y="3026664"/>
            <a:ext cx="292608" cy="292608"/>
          </a:xfrm>
          <a:prstGeom prst="ellipse">
            <a:avLst/>
          </a:prstGeom>
          <a:solidFill>
            <a:srgbClr val="2563EB"/>
          </a:solidFill>
          <a:ln w="12700">
            <a:solidFill>
              <a:srgbClr val="2563EB"/>
            </a:solidFill>
            <a:prstDash val="solid"/>
          </a:ln>
        </p:spPr>
      </p:sp>
      <p:sp>
        <p:nvSpPr>
          <p:cNvPr id="26" name="Text 23"/>
          <p:cNvSpPr/>
          <p:nvPr/>
        </p:nvSpPr>
        <p:spPr>
          <a:xfrm>
            <a:off x="5376672" y="3026664"/>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24"/>
          <p:cNvSpPr/>
          <p:nvPr/>
        </p:nvSpPr>
        <p:spPr>
          <a:xfrm>
            <a:off x="5742432" y="2980944"/>
            <a:ext cx="3017520" cy="292608"/>
          </a:xfrm>
          <a:prstGeom prst="rect">
            <a:avLst/>
          </a:prstGeom>
          <a:noFill/>
          <a:ln/>
        </p:spPr>
        <p:txBody>
          <a:bodyPr wrap="square" rtlCol="0" anchor="b"/>
          <a:lstStyle/>
          <a:p>
            <a:pPr marL="0" indent="0">
              <a:buNone/>
            </a:pPr>
            <a:r>
              <a:rPr lang="en-US" sz="1050" b="1" dirty="0">
                <a:solidFill>
                  <a:srgbClr val="1E3A5F"/>
                </a:solidFill>
                <a:latin typeface="Calibri" pitchFamily="34" charset="0"/>
                <a:ea typeface="Calibri" pitchFamily="34" charset="-122"/>
                <a:cs typeface="Calibri" pitchFamily="34" charset="-120"/>
              </a:rPr>
              <a:t>Train CUSUM Entropy Model</a:t>
            </a:r>
            <a:endParaRPr lang="en-US" sz="1050" dirty="0"/>
          </a:p>
        </p:txBody>
      </p:sp>
      <p:sp>
        <p:nvSpPr>
          <p:cNvPr id="28" name="Text 25"/>
          <p:cNvSpPr/>
          <p:nvPr/>
        </p:nvSpPr>
        <p:spPr>
          <a:xfrm>
            <a:off x="5742432" y="3255264"/>
            <a:ext cx="3017520" cy="23774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Model trained on entropy features</a:t>
            </a:r>
            <a:endParaRPr lang="en-US" sz="950" dirty="0"/>
          </a:p>
        </p:txBody>
      </p:sp>
      <p:sp>
        <p:nvSpPr>
          <p:cNvPr id="29" name="Shape 26"/>
          <p:cNvSpPr/>
          <p:nvPr/>
        </p:nvSpPr>
        <p:spPr>
          <a:xfrm>
            <a:off x="5376672" y="3557016"/>
            <a:ext cx="292608" cy="292608"/>
          </a:xfrm>
          <a:prstGeom prst="ellipse">
            <a:avLst/>
          </a:prstGeom>
          <a:solidFill>
            <a:srgbClr val="2563EB"/>
          </a:solidFill>
          <a:ln w="12700">
            <a:solidFill>
              <a:srgbClr val="2563EB"/>
            </a:solidFill>
            <a:prstDash val="solid"/>
          </a:ln>
        </p:spPr>
      </p:sp>
      <p:sp>
        <p:nvSpPr>
          <p:cNvPr id="30" name="Text 27"/>
          <p:cNvSpPr/>
          <p:nvPr/>
        </p:nvSpPr>
        <p:spPr>
          <a:xfrm>
            <a:off x="5376672" y="3557016"/>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1" name="Text 28"/>
          <p:cNvSpPr/>
          <p:nvPr/>
        </p:nvSpPr>
        <p:spPr>
          <a:xfrm>
            <a:off x="5742432" y="3511296"/>
            <a:ext cx="3017520" cy="292608"/>
          </a:xfrm>
          <a:prstGeom prst="rect">
            <a:avLst/>
          </a:prstGeom>
          <a:noFill/>
          <a:ln/>
        </p:spPr>
        <p:txBody>
          <a:bodyPr wrap="square" rtlCol="0" anchor="b"/>
          <a:lstStyle/>
          <a:p>
            <a:pPr marL="0" indent="0">
              <a:buNone/>
            </a:pPr>
            <a:r>
              <a:rPr lang="en-US" sz="1050" b="1" dirty="0">
                <a:solidFill>
                  <a:srgbClr val="1E3A5F"/>
                </a:solidFill>
                <a:latin typeface="Calibri" pitchFamily="34" charset="0"/>
                <a:ea typeface="Calibri" pitchFamily="34" charset="-122"/>
                <a:cs typeface="Calibri" pitchFamily="34" charset="-120"/>
              </a:rPr>
              <a:t>Predict Attack from Test Data</a:t>
            </a:r>
            <a:endParaRPr lang="en-US" sz="1050" dirty="0"/>
          </a:p>
        </p:txBody>
      </p:sp>
      <p:sp>
        <p:nvSpPr>
          <p:cNvPr id="32" name="Text 29"/>
          <p:cNvSpPr/>
          <p:nvPr/>
        </p:nvSpPr>
        <p:spPr>
          <a:xfrm>
            <a:off x="5742432" y="3785616"/>
            <a:ext cx="3017520" cy="23774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Classifies test records as Normal/Attack</a:t>
            </a:r>
            <a:endParaRPr lang="en-US" sz="950" dirty="0"/>
          </a:p>
        </p:txBody>
      </p:sp>
      <p:sp>
        <p:nvSpPr>
          <p:cNvPr id="33" name="Shape 30"/>
          <p:cNvSpPr/>
          <p:nvPr/>
        </p:nvSpPr>
        <p:spPr>
          <a:xfrm>
            <a:off x="5376672" y="4087368"/>
            <a:ext cx="292608" cy="292608"/>
          </a:xfrm>
          <a:prstGeom prst="ellipse">
            <a:avLst/>
          </a:prstGeom>
          <a:solidFill>
            <a:srgbClr val="2563EB"/>
          </a:solidFill>
          <a:ln w="12700">
            <a:solidFill>
              <a:srgbClr val="2563EB"/>
            </a:solidFill>
            <a:prstDash val="solid"/>
          </a:ln>
        </p:spPr>
      </p:sp>
      <p:sp>
        <p:nvSpPr>
          <p:cNvPr id="34" name="Text 31"/>
          <p:cNvSpPr/>
          <p:nvPr/>
        </p:nvSpPr>
        <p:spPr>
          <a:xfrm>
            <a:off x="5376672" y="4087368"/>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5" name="Text 32"/>
          <p:cNvSpPr/>
          <p:nvPr/>
        </p:nvSpPr>
        <p:spPr>
          <a:xfrm>
            <a:off x="5742432" y="4041648"/>
            <a:ext cx="3017520" cy="292608"/>
          </a:xfrm>
          <a:prstGeom prst="rect">
            <a:avLst/>
          </a:prstGeom>
          <a:noFill/>
          <a:ln/>
        </p:spPr>
        <p:txBody>
          <a:bodyPr wrap="square" rtlCol="0" anchor="b"/>
          <a:lstStyle/>
          <a:p>
            <a:pPr marL="0" indent="0">
              <a:buNone/>
            </a:pPr>
            <a:r>
              <a:rPr lang="en-US" sz="1050" b="1" dirty="0">
                <a:solidFill>
                  <a:srgbClr val="1E3A5F"/>
                </a:solidFill>
                <a:latin typeface="Calibri" pitchFamily="34" charset="0"/>
                <a:ea typeface="Calibri" pitchFamily="34" charset="-122"/>
                <a:cs typeface="Calibri" pitchFamily="34" charset="-120"/>
              </a:rPr>
              <a:t>Exit</a:t>
            </a:r>
            <a:endParaRPr lang="en-US" sz="1050" dirty="0"/>
          </a:p>
        </p:txBody>
      </p:sp>
      <p:sp>
        <p:nvSpPr>
          <p:cNvPr id="36" name="Text 33"/>
          <p:cNvSpPr/>
          <p:nvPr/>
        </p:nvSpPr>
        <p:spPr>
          <a:xfrm>
            <a:off x="5742432" y="4315968"/>
            <a:ext cx="3017520" cy="23774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Session ends after results are shown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k.  Source Code (Key Snippets)</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15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Text 6"/>
          <p:cNvSpPr/>
          <p:nvPr/>
        </p:nvSpPr>
        <p:spPr>
          <a:xfrm>
            <a:off x="274320" y="804672"/>
            <a:ext cx="8595360" cy="329184"/>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Core Algorithm — CUSUM Entropy Detection (Python)</a:t>
            </a:r>
            <a:endParaRPr lang="en-US" sz="1300" dirty="0"/>
          </a:p>
        </p:txBody>
      </p:sp>
      <p:sp>
        <p:nvSpPr>
          <p:cNvPr id="9" name="Shape 7"/>
          <p:cNvSpPr/>
          <p:nvPr/>
        </p:nvSpPr>
        <p:spPr>
          <a:xfrm>
            <a:off x="256032" y="1170432"/>
            <a:ext cx="8631936" cy="3200400"/>
          </a:xfrm>
          <a:prstGeom prst="rect">
            <a:avLst/>
          </a:prstGeom>
          <a:solidFill>
            <a:srgbClr val="1E293B"/>
          </a:solidFill>
          <a:ln w="10160">
            <a:solidFill>
              <a:srgbClr val="E2E8F0"/>
            </a:solidFill>
            <a:prstDash val="solid"/>
          </a:ln>
          <a:effectLst>
            <a:outerShdw blurRad="76200" dist="25400" dir="8100000" algn="bl" rotWithShape="0">
              <a:srgbClr val="000000">
                <a:alpha val="10000"/>
              </a:srgbClr>
            </a:outerShdw>
          </a:effectLst>
        </p:spPr>
      </p:sp>
      <p:sp>
        <p:nvSpPr>
          <p:cNvPr id="10" name="Text 8"/>
          <p:cNvSpPr/>
          <p:nvPr/>
        </p:nvSpPr>
        <p:spPr>
          <a:xfrm>
            <a:off x="457200" y="1225296"/>
            <a:ext cx="8321040" cy="201168"/>
          </a:xfrm>
          <a:prstGeom prst="rect">
            <a:avLst/>
          </a:prstGeom>
          <a:noFill/>
          <a:ln/>
        </p:spPr>
        <p:txBody>
          <a:bodyPr wrap="square" lIns="0" tIns="0" rIns="0" bIns="0" rtlCol="0" anchor="ctr"/>
          <a:lstStyle/>
          <a:p>
            <a:pPr marL="0" indent="0">
              <a:buNone/>
            </a:pPr>
            <a:r>
              <a:rPr lang="en-US" sz="1050" dirty="0">
                <a:solidFill>
                  <a:srgbClr val="FF7B72"/>
                </a:solidFill>
                <a:latin typeface="Consolas" pitchFamily="34" charset="0"/>
                <a:ea typeface="Consolas" pitchFamily="34" charset="-122"/>
                <a:cs typeface="Consolas" pitchFamily="34" charset="-120"/>
              </a:rPr>
              <a:t>import</a:t>
            </a:r>
            <a:r>
              <a:rPr lang="en-US" sz="1050" dirty="0">
                <a:solidFill>
                  <a:srgbClr val="79C0FF"/>
                </a:solidFill>
                <a:latin typeface="Consolas" pitchFamily="34" charset="0"/>
                <a:ea typeface="Consolas" pitchFamily="34" charset="-122"/>
                <a:cs typeface="Consolas" pitchFamily="34" charset="-120"/>
              </a:rPr>
              <a:t> numpy as np</a:t>
            </a:r>
            <a:r>
              <a:rPr lang="en-US" sz="1050" dirty="0">
                <a:solidFill>
                  <a:srgbClr val="6A737D"/>
                </a:solidFill>
                <a:latin typeface="Consolas" pitchFamily="34" charset="0"/>
                <a:ea typeface="Consolas" pitchFamily="34" charset="-122"/>
                <a:cs typeface="Consolas" pitchFamily="34" charset="-120"/>
              </a:rPr>
              <a:t>        # numerical operations</a:t>
            </a:r>
            <a:endParaRPr lang="en-US" sz="1050" dirty="0"/>
          </a:p>
        </p:txBody>
      </p:sp>
      <p:sp>
        <p:nvSpPr>
          <p:cNvPr id="11" name="Text 9"/>
          <p:cNvSpPr/>
          <p:nvPr/>
        </p:nvSpPr>
        <p:spPr>
          <a:xfrm>
            <a:off x="457200" y="1399032"/>
            <a:ext cx="8321040" cy="201168"/>
          </a:xfrm>
          <a:prstGeom prst="rect">
            <a:avLst/>
          </a:prstGeom>
          <a:noFill/>
          <a:ln/>
        </p:spPr>
        <p:txBody>
          <a:bodyPr wrap="square" lIns="0" tIns="0" rIns="0" bIns="0" rtlCol="0" anchor="ctr"/>
          <a:lstStyle/>
          <a:p>
            <a:pPr marL="0" indent="0">
              <a:buNone/>
            </a:pPr>
            <a:r>
              <a:rPr lang="en-US" sz="1050" dirty="0">
                <a:solidFill>
                  <a:srgbClr val="FF7B72"/>
                </a:solidFill>
                <a:latin typeface="Consolas" pitchFamily="34" charset="0"/>
                <a:ea typeface="Consolas" pitchFamily="34" charset="-122"/>
                <a:cs typeface="Consolas" pitchFamily="34" charset="-120"/>
              </a:rPr>
              <a:t>import</a:t>
            </a:r>
            <a:r>
              <a:rPr lang="en-US" sz="1050" dirty="0">
                <a:solidFill>
                  <a:srgbClr val="79C0FF"/>
                </a:solidFill>
                <a:latin typeface="Consolas" pitchFamily="34" charset="0"/>
                <a:ea typeface="Consolas" pitchFamily="34" charset="-122"/>
                <a:cs typeface="Consolas" pitchFamily="34" charset="-120"/>
              </a:rPr>
              <a:t> pandas as pd</a:t>
            </a:r>
            <a:r>
              <a:rPr lang="en-US" sz="1050" dirty="0">
                <a:solidFill>
                  <a:srgbClr val="6A737D"/>
                </a:solidFill>
                <a:latin typeface="Consolas" pitchFamily="34" charset="0"/>
                <a:ea typeface="Consolas" pitchFamily="34" charset="-122"/>
                <a:cs typeface="Consolas" pitchFamily="34" charset="-120"/>
              </a:rPr>
              <a:t>       # data handling</a:t>
            </a:r>
            <a:endParaRPr lang="en-US" sz="1050" dirty="0"/>
          </a:p>
        </p:txBody>
      </p:sp>
      <p:sp>
        <p:nvSpPr>
          <p:cNvPr id="12" name="Text 10"/>
          <p:cNvSpPr/>
          <p:nvPr/>
        </p:nvSpPr>
        <p:spPr>
          <a:xfrm>
            <a:off x="457200" y="1572768"/>
            <a:ext cx="8321040" cy="201168"/>
          </a:xfrm>
          <a:prstGeom prst="rect">
            <a:avLst/>
          </a:prstGeom>
          <a:noFill/>
          <a:ln/>
        </p:spPr>
        <p:txBody>
          <a:bodyPr wrap="square" lIns="0" tIns="0" rIns="0" bIns="0" rtlCol="0" anchor="ctr"/>
          <a:lstStyle/>
          <a:p>
            <a:pPr marL="0" indent="0">
              <a:buNone/>
            </a:pPr>
            <a:r>
              <a:rPr lang="en-US" sz="1050" dirty="0">
                <a:solidFill>
                  <a:srgbClr val="FF7B72"/>
                </a:solidFill>
                <a:latin typeface="Consolas" pitchFamily="34" charset="0"/>
                <a:ea typeface="Consolas" pitchFamily="34" charset="-122"/>
                <a:cs typeface="Consolas" pitchFamily="34" charset="-120"/>
              </a:rPr>
              <a:t>from</a:t>
            </a:r>
            <a:r>
              <a:rPr lang="en-US" sz="1050" dirty="0">
                <a:solidFill>
                  <a:srgbClr val="C9D1D9"/>
                </a:solidFill>
                <a:latin typeface="Consolas" pitchFamily="34" charset="0"/>
                <a:ea typeface="Consolas" pitchFamily="34" charset="-122"/>
                <a:cs typeface="Consolas" pitchFamily="34" charset="-120"/>
              </a:rPr>
              <a:t> scipy.stats </a:t>
            </a:r>
            <a:r>
              <a:rPr lang="en-US" sz="1050" dirty="0">
                <a:solidFill>
                  <a:srgbClr val="FF7B72"/>
                </a:solidFill>
                <a:latin typeface="Consolas" pitchFamily="34" charset="0"/>
                <a:ea typeface="Consolas" pitchFamily="34" charset="-122"/>
                <a:cs typeface="Consolas" pitchFamily="34" charset="-120"/>
              </a:rPr>
              <a:t>import</a:t>
            </a:r>
            <a:r>
              <a:rPr lang="en-US" sz="1050" dirty="0">
                <a:solidFill>
                  <a:srgbClr val="79C0FF"/>
                </a:solidFill>
                <a:latin typeface="Consolas" pitchFamily="34" charset="0"/>
                <a:ea typeface="Consolas" pitchFamily="34" charset="-122"/>
                <a:cs typeface="Consolas" pitchFamily="34" charset="-120"/>
              </a:rPr>
              <a:t> entropy</a:t>
            </a:r>
            <a:endParaRPr lang="en-US" sz="1050" dirty="0"/>
          </a:p>
        </p:txBody>
      </p:sp>
      <p:sp>
        <p:nvSpPr>
          <p:cNvPr id="13" name="Text 11"/>
          <p:cNvSpPr/>
          <p:nvPr/>
        </p:nvSpPr>
        <p:spPr>
          <a:xfrm>
            <a:off x="457200" y="1920240"/>
            <a:ext cx="8321040" cy="201168"/>
          </a:xfrm>
          <a:prstGeom prst="rect">
            <a:avLst/>
          </a:prstGeom>
          <a:noFill/>
          <a:ln/>
        </p:spPr>
        <p:txBody>
          <a:bodyPr wrap="square" lIns="0" tIns="0" rIns="0" bIns="0" rtlCol="0" anchor="ctr"/>
          <a:lstStyle/>
          <a:p>
            <a:pPr marL="0" indent="0">
              <a:buNone/>
            </a:pPr>
            <a:r>
              <a:rPr lang="en-US" sz="1050" dirty="0">
                <a:solidFill>
                  <a:srgbClr val="FF7B72"/>
                </a:solidFill>
                <a:latin typeface="Consolas" pitchFamily="34" charset="0"/>
                <a:ea typeface="Consolas" pitchFamily="34" charset="-122"/>
                <a:cs typeface="Consolas" pitchFamily="34" charset="-120"/>
              </a:rPr>
              <a:t>def </a:t>
            </a:r>
            <a:r>
              <a:rPr lang="en-US" sz="1050" dirty="0">
                <a:solidFill>
                  <a:srgbClr val="D2A8FF"/>
                </a:solidFill>
                <a:latin typeface="Consolas" pitchFamily="34" charset="0"/>
                <a:ea typeface="Consolas" pitchFamily="34" charset="-122"/>
                <a:cs typeface="Consolas" pitchFamily="34" charset="-120"/>
              </a:rPr>
              <a:t>compute_entropy</a:t>
            </a:r>
            <a:r>
              <a:rPr lang="en-US" sz="1050" dirty="0">
                <a:solidFill>
                  <a:srgbClr val="C9D1D9"/>
                </a:solidFill>
                <a:latin typeface="Consolas" pitchFamily="34" charset="0"/>
                <a:ea typeface="Consolas" pitchFamily="34" charset="-122"/>
                <a:cs typeface="Consolas" pitchFamily="34" charset="-120"/>
              </a:rPr>
              <a:t>(window):</a:t>
            </a:r>
            <a:endParaRPr lang="en-US" sz="1050" dirty="0"/>
          </a:p>
        </p:txBody>
      </p:sp>
      <p:sp>
        <p:nvSpPr>
          <p:cNvPr id="14" name="Text 12"/>
          <p:cNvSpPr/>
          <p:nvPr/>
        </p:nvSpPr>
        <p:spPr>
          <a:xfrm>
            <a:off x="457200" y="2093976"/>
            <a:ext cx="8321040" cy="201168"/>
          </a:xfrm>
          <a:prstGeom prst="rect">
            <a:avLst/>
          </a:prstGeom>
          <a:noFill/>
          <a:ln/>
        </p:spPr>
        <p:txBody>
          <a:bodyPr wrap="square" lIns="0" tIns="0" rIns="0" bIns="0" rtlCol="0" anchor="ctr"/>
          <a:lstStyle/>
          <a:p>
            <a:pPr marL="0" indent="0">
              <a:buNone/>
            </a:pPr>
            <a:r>
              <a:rPr lang="en-US" sz="1050" dirty="0">
                <a:solidFill>
                  <a:srgbClr val="C9D1D9"/>
                </a:solidFill>
                <a:latin typeface="Consolas" pitchFamily="34" charset="0"/>
                <a:ea typeface="Consolas" pitchFamily="34" charset="-122"/>
                <a:cs typeface="Consolas" pitchFamily="34" charset="-120"/>
              </a:rPr>
              <a:t>    _, counts = np.unique(window, return_counts=</a:t>
            </a:r>
            <a:r>
              <a:rPr lang="en-US" sz="1050" dirty="0">
                <a:solidFill>
                  <a:srgbClr val="79C0FF"/>
                </a:solidFill>
                <a:latin typeface="Consolas" pitchFamily="34" charset="0"/>
                <a:ea typeface="Consolas" pitchFamily="34" charset="-122"/>
                <a:cs typeface="Consolas" pitchFamily="34" charset="-120"/>
              </a:rPr>
              <a:t>True</a:t>
            </a:r>
            <a:r>
              <a:rPr lang="en-US" sz="1050" dirty="0">
                <a:solidFill>
                  <a:srgbClr val="C9D1D9"/>
                </a:solidFill>
                <a:latin typeface="Consolas" pitchFamily="34" charset="0"/>
                <a:ea typeface="Consolas" pitchFamily="34" charset="-122"/>
                <a:cs typeface="Consolas" pitchFamily="34" charset="-120"/>
              </a:rPr>
              <a:t>)</a:t>
            </a:r>
            <a:endParaRPr lang="en-US" sz="1050" dirty="0"/>
          </a:p>
        </p:txBody>
      </p:sp>
      <p:sp>
        <p:nvSpPr>
          <p:cNvPr id="15" name="Text 13"/>
          <p:cNvSpPr/>
          <p:nvPr/>
        </p:nvSpPr>
        <p:spPr>
          <a:xfrm>
            <a:off x="457200" y="2267712"/>
            <a:ext cx="8321040" cy="201168"/>
          </a:xfrm>
          <a:prstGeom prst="rect">
            <a:avLst/>
          </a:prstGeom>
          <a:noFill/>
          <a:ln/>
        </p:spPr>
        <p:txBody>
          <a:bodyPr wrap="square" lIns="0" tIns="0" rIns="0" bIns="0" rtlCol="0" anchor="ctr"/>
          <a:lstStyle/>
          <a:p>
            <a:pPr marL="0" indent="0">
              <a:buNone/>
            </a:pPr>
            <a:r>
              <a:rPr lang="en-US" sz="1050" dirty="0">
                <a:solidFill>
                  <a:srgbClr val="C9D1D9"/>
                </a:solidFill>
                <a:latin typeface="Consolas" pitchFamily="34" charset="0"/>
                <a:ea typeface="Consolas" pitchFamily="34" charset="-122"/>
                <a:cs typeface="Consolas" pitchFamily="34" charset="-120"/>
              </a:rPr>
              <a:t>    probs = counts / counts.sum()   </a:t>
            </a:r>
            <a:r>
              <a:rPr lang="en-US" sz="1050" dirty="0">
                <a:solidFill>
                  <a:srgbClr val="6A737D"/>
                </a:solidFill>
                <a:latin typeface="Consolas" pitchFamily="34" charset="0"/>
                <a:ea typeface="Consolas" pitchFamily="34" charset="-122"/>
                <a:cs typeface="Consolas" pitchFamily="34" charset="-120"/>
              </a:rPr>
              <a:t># probability distribution</a:t>
            </a:r>
            <a:endParaRPr lang="en-US" sz="1050" dirty="0"/>
          </a:p>
        </p:txBody>
      </p:sp>
      <p:sp>
        <p:nvSpPr>
          <p:cNvPr id="16" name="Text 14"/>
          <p:cNvSpPr/>
          <p:nvPr/>
        </p:nvSpPr>
        <p:spPr>
          <a:xfrm>
            <a:off x="457200" y="2441448"/>
            <a:ext cx="8321040" cy="201168"/>
          </a:xfrm>
          <a:prstGeom prst="rect">
            <a:avLst/>
          </a:prstGeom>
          <a:noFill/>
          <a:ln/>
        </p:spPr>
        <p:txBody>
          <a:bodyPr wrap="square" lIns="0" tIns="0" rIns="0" bIns="0" rtlCol="0" anchor="ctr"/>
          <a:lstStyle/>
          <a:p>
            <a:pPr marL="0" indent="0">
              <a:buNone/>
            </a:pPr>
            <a:r>
              <a:rPr lang="en-US" sz="1050" dirty="0">
                <a:solidFill>
                  <a:srgbClr val="FF7B72"/>
                </a:solidFill>
                <a:latin typeface="Consolas" pitchFamily="34" charset="0"/>
                <a:ea typeface="Consolas" pitchFamily="34" charset="-122"/>
                <a:cs typeface="Consolas" pitchFamily="34" charset="-120"/>
              </a:rPr>
              <a:t>    return </a:t>
            </a:r>
            <a:r>
              <a:rPr lang="en-US" sz="1050" dirty="0">
                <a:solidFill>
                  <a:srgbClr val="C9D1D9"/>
                </a:solidFill>
                <a:latin typeface="Consolas" pitchFamily="34" charset="0"/>
                <a:ea typeface="Consolas" pitchFamily="34" charset="-122"/>
                <a:cs typeface="Consolas" pitchFamily="34" charset="-120"/>
              </a:rPr>
              <a:t>entropy(probs, base=</a:t>
            </a:r>
            <a:r>
              <a:rPr lang="en-US" sz="1050" dirty="0">
                <a:solidFill>
                  <a:srgbClr val="79C0FF"/>
                </a:solidFill>
                <a:latin typeface="Consolas" pitchFamily="34" charset="0"/>
                <a:ea typeface="Consolas" pitchFamily="34" charset="-122"/>
                <a:cs typeface="Consolas" pitchFamily="34" charset="-120"/>
              </a:rPr>
              <a:t>2</a:t>
            </a:r>
            <a:r>
              <a:rPr lang="en-US" sz="1050" dirty="0">
                <a:solidFill>
                  <a:srgbClr val="C9D1D9"/>
                </a:solidFill>
                <a:latin typeface="Consolas" pitchFamily="34" charset="0"/>
                <a:ea typeface="Consolas" pitchFamily="34" charset="-122"/>
                <a:cs typeface="Consolas" pitchFamily="34" charset="-120"/>
              </a:rPr>
              <a:t>)</a:t>
            </a:r>
            <a:endParaRPr lang="en-US" sz="1050" dirty="0"/>
          </a:p>
        </p:txBody>
      </p:sp>
      <p:sp>
        <p:nvSpPr>
          <p:cNvPr id="17" name="Text 15"/>
          <p:cNvSpPr/>
          <p:nvPr/>
        </p:nvSpPr>
        <p:spPr>
          <a:xfrm>
            <a:off x="457200" y="2788920"/>
            <a:ext cx="8321040" cy="201168"/>
          </a:xfrm>
          <a:prstGeom prst="rect">
            <a:avLst/>
          </a:prstGeom>
          <a:noFill/>
          <a:ln/>
        </p:spPr>
        <p:txBody>
          <a:bodyPr wrap="square" lIns="0" tIns="0" rIns="0" bIns="0" rtlCol="0" anchor="ctr"/>
          <a:lstStyle/>
          <a:p>
            <a:pPr marL="0" indent="0">
              <a:buNone/>
            </a:pPr>
            <a:r>
              <a:rPr lang="en-US" sz="1050" dirty="0">
                <a:solidFill>
                  <a:srgbClr val="FF7B72"/>
                </a:solidFill>
                <a:latin typeface="Consolas" pitchFamily="34" charset="0"/>
                <a:ea typeface="Consolas" pitchFamily="34" charset="-122"/>
                <a:cs typeface="Consolas" pitchFamily="34" charset="-120"/>
              </a:rPr>
              <a:t>def </a:t>
            </a:r>
            <a:r>
              <a:rPr lang="en-US" sz="1050" dirty="0">
                <a:solidFill>
                  <a:srgbClr val="D2A8FF"/>
                </a:solidFill>
                <a:latin typeface="Consolas" pitchFamily="34" charset="0"/>
                <a:ea typeface="Consolas" pitchFamily="34" charset="-122"/>
                <a:cs typeface="Consolas" pitchFamily="34" charset="-120"/>
              </a:rPr>
              <a:t>cusum_detect</a:t>
            </a:r>
            <a:r>
              <a:rPr lang="en-US" sz="1050" dirty="0">
                <a:solidFill>
                  <a:srgbClr val="C9D1D9"/>
                </a:solidFill>
                <a:latin typeface="Consolas" pitchFamily="34" charset="0"/>
                <a:ea typeface="Consolas" pitchFamily="34" charset="-122"/>
                <a:cs typeface="Consolas" pitchFamily="34" charset="-120"/>
              </a:rPr>
              <a:t>(series, threshold=</a:t>
            </a:r>
            <a:r>
              <a:rPr lang="en-US" sz="1050" dirty="0">
                <a:solidFill>
                  <a:srgbClr val="79C0FF"/>
                </a:solidFill>
                <a:latin typeface="Consolas" pitchFamily="34" charset="0"/>
                <a:ea typeface="Consolas" pitchFamily="34" charset="-122"/>
                <a:cs typeface="Consolas" pitchFamily="34" charset="-120"/>
              </a:rPr>
              <a:t>1.5</a:t>
            </a:r>
            <a:r>
              <a:rPr lang="en-US" sz="1050" dirty="0">
                <a:solidFill>
                  <a:srgbClr val="C9D1D9"/>
                </a:solidFill>
                <a:latin typeface="Consolas" pitchFamily="34" charset="0"/>
                <a:ea typeface="Consolas" pitchFamily="34" charset="-122"/>
                <a:cs typeface="Consolas" pitchFamily="34" charset="-120"/>
              </a:rPr>
              <a:t>):</a:t>
            </a:r>
            <a:endParaRPr lang="en-US" sz="1050" dirty="0"/>
          </a:p>
        </p:txBody>
      </p:sp>
      <p:sp>
        <p:nvSpPr>
          <p:cNvPr id="18" name="Text 16"/>
          <p:cNvSpPr/>
          <p:nvPr/>
        </p:nvSpPr>
        <p:spPr>
          <a:xfrm>
            <a:off x="457200" y="2962656"/>
            <a:ext cx="8321040" cy="201168"/>
          </a:xfrm>
          <a:prstGeom prst="rect">
            <a:avLst/>
          </a:prstGeom>
          <a:noFill/>
          <a:ln/>
        </p:spPr>
        <p:txBody>
          <a:bodyPr wrap="square" lIns="0" tIns="0" rIns="0" bIns="0" rtlCol="0" anchor="ctr"/>
          <a:lstStyle/>
          <a:p>
            <a:pPr marL="0" indent="0">
              <a:buNone/>
            </a:pPr>
            <a:r>
              <a:rPr lang="en-US" sz="1050" dirty="0">
                <a:solidFill>
                  <a:srgbClr val="C9D1D9"/>
                </a:solidFill>
                <a:latin typeface="Consolas" pitchFamily="34" charset="0"/>
                <a:ea typeface="Consolas" pitchFamily="34" charset="-122"/>
                <a:cs typeface="Consolas" pitchFamily="34" charset="-120"/>
              </a:rPr>
              <a:t>    baseline = np.mean(series[:</a:t>
            </a:r>
            <a:r>
              <a:rPr lang="en-US" sz="1050" dirty="0">
                <a:solidFill>
                  <a:srgbClr val="79C0FF"/>
                </a:solidFill>
                <a:latin typeface="Consolas" pitchFamily="34" charset="0"/>
                <a:ea typeface="Consolas" pitchFamily="34" charset="-122"/>
                <a:cs typeface="Consolas" pitchFamily="34" charset="-120"/>
              </a:rPr>
              <a:t>50</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6A737D"/>
                </a:solidFill>
                <a:latin typeface="Consolas" pitchFamily="34" charset="0"/>
                <a:ea typeface="Consolas" pitchFamily="34" charset="-122"/>
                <a:cs typeface="Consolas" pitchFamily="34" charset="-120"/>
              </a:rPr>
              <a:t># baseline from first 50 samples</a:t>
            </a:r>
            <a:endParaRPr lang="en-US" sz="1050" dirty="0"/>
          </a:p>
        </p:txBody>
      </p:sp>
      <p:sp>
        <p:nvSpPr>
          <p:cNvPr id="19" name="Text 17"/>
          <p:cNvSpPr/>
          <p:nvPr/>
        </p:nvSpPr>
        <p:spPr>
          <a:xfrm>
            <a:off x="457200" y="3136392"/>
            <a:ext cx="8321040" cy="201168"/>
          </a:xfrm>
          <a:prstGeom prst="rect">
            <a:avLst/>
          </a:prstGeom>
          <a:noFill/>
          <a:ln/>
        </p:spPr>
        <p:txBody>
          <a:bodyPr wrap="square" lIns="0" tIns="0" rIns="0" bIns="0" rtlCol="0" anchor="ctr"/>
          <a:lstStyle/>
          <a:p>
            <a:pPr marL="0" indent="0">
              <a:buNone/>
            </a:pPr>
            <a:r>
              <a:rPr lang="en-US" sz="1050" dirty="0">
                <a:solidFill>
                  <a:srgbClr val="C9D1D9"/>
                </a:solidFill>
                <a:latin typeface="Consolas" pitchFamily="34" charset="0"/>
                <a:ea typeface="Consolas" pitchFamily="34" charset="-122"/>
                <a:cs typeface="Consolas" pitchFamily="34" charset="-120"/>
              </a:rPr>
              <a:t>    cusum_stat = </a:t>
            </a:r>
            <a:r>
              <a:rPr lang="en-US" sz="1050" dirty="0">
                <a:solidFill>
                  <a:srgbClr val="79C0FF"/>
                </a:solidFill>
                <a:latin typeface="Consolas" pitchFamily="34" charset="0"/>
                <a:ea typeface="Consolas" pitchFamily="34" charset="-122"/>
                <a:cs typeface="Consolas" pitchFamily="34" charset="-120"/>
              </a:rPr>
              <a:t>0.0</a:t>
            </a:r>
            <a:endParaRPr lang="en-US" sz="1050" dirty="0"/>
          </a:p>
        </p:txBody>
      </p:sp>
      <p:sp>
        <p:nvSpPr>
          <p:cNvPr id="20" name="Text 18"/>
          <p:cNvSpPr/>
          <p:nvPr/>
        </p:nvSpPr>
        <p:spPr>
          <a:xfrm>
            <a:off x="457200" y="3310128"/>
            <a:ext cx="8321040" cy="201168"/>
          </a:xfrm>
          <a:prstGeom prst="rect">
            <a:avLst/>
          </a:prstGeom>
          <a:noFill/>
          <a:ln/>
        </p:spPr>
        <p:txBody>
          <a:bodyPr wrap="square" lIns="0" tIns="0" rIns="0" bIns="0" rtlCol="0" anchor="ctr"/>
          <a:lstStyle/>
          <a:p>
            <a:pPr marL="0" indent="0">
              <a:buNone/>
            </a:pPr>
            <a:r>
              <a:rPr lang="en-US" sz="1050" dirty="0">
                <a:solidFill>
                  <a:srgbClr val="FF7B72"/>
                </a:solidFill>
                <a:latin typeface="Consolas" pitchFamily="34" charset="0"/>
                <a:ea typeface="Consolas" pitchFamily="34" charset="-122"/>
                <a:cs typeface="Consolas" pitchFamily="34" charset="-120"/>
              </a:rPr>
              <a:t>    for </a:t>
            </a:r>
            <a:r>
              <a:rPr lang="en-US" sz="1050" dirty="0">
                <a:solidFill>
                  <a:srgbClr val="C9D1D9"/>
                </a:solidFill>
                <a:latin typeface="Consolas" pitchFamily="34" charset="0"/>
                <a:ea typeface="Consolas" pitchFamily="34" charset="-122"/>
                <a:cs typeface="Consolas" pitchFamily="34" charset="-120"/>
              </a:rPr>
              <a:t>val </a:t>
            </a:r>
            <a:r>
              <a:rPr lang="en-US" sz="1050" dirty="0">
                <a:solidFill>
                  <a:srgbClr val="FF7B72"/>
                </a:solidFill>
                <a:latin typeface="Consolas" pitchFamily="34" charset="0"/>
                <a:ea typeface="Consolas" pitchFamily="34" charset="-122"/>
                <a:cs typeface="Consolas" pitchFamily="34" charset="-120"/>
              </a:rPr>
              <a:t>in </a:t>
            </a:r>
            <a:r>
              <a:rPr lang="en-US" sz="1050" dirty="0">
                <a:solidFill>
                  <a:srgbClr val="C9D1D9"/>
                </a:solidFill>
                <a:latin typeface="Consolas" pitchFamily="34" charset="0"/>
                <a:ea typeface="Consolas" pitchFamily="34" charset="-122"/>
                <a:cs typeface="Consolas" pitchFamily="34" charset="-120"/>
              </a:rPr>
              <a:t>series:</a:t>
            </a:r>
            <a:endParaRPr lang="en-US" sz="1050" dirty="0"/>
          </a:p>
        </p:txBody>
      </p:sp>
      <p:sp>
        <p:nvSpPr>
          <p:cNvPr id="21" name="Text 19"/>
          <p:cNvSpPr/>
          <p:nvPr/>
        </p:nvSpPr>
        <p:spPr>
          <a:xfrm>
            <a:off x="457200" y="3483864"/>
            <a:ext cx="8321040" cy="201168"/>
          </a:xfrm>
          <a:prstGeom prst="rect">
            <a:avLst/>
          </a:prstGeom>
          <a:noFill/>
          <a:ln/>
        </p:spPr>
        <p:txBody>
          <a:bodyPr wrap="square" lIns="0" tIns="0" rIns="0" bIns="0" rtlCol="0" anchor="ctr"/>
          <a:lstStyle/>
          <a:p>
            <a:pPr marL="0" indent="0">
              <a:buNone/>
            </a:pPr>
            <a:r>
              <a:rPr lang="en-US" sz="1050" dirty="0">
                <a:solidFill>
                  <a:srgbClr val="C9D1D9"/>
                </a:solidFill>
                <a:latin typeface="Consolas" pitchFamily="34" charset="0"/>
                <a:ea typeface="Consolas" pitchFamily="34" charset="-122"/>
                <a:cs typeface="Consolas" pitchFamily="34" charset="-120"/>
              </a:rPr>
              <a:t>        cusum_stat = max(</a:t>
            </a:r>
            <a:r>
              <a:rPr lang="en-US" sz="1050" dirty="0">
                <a:solidFill>
                  <a:srgbClr val="79C0FF"/>
                </a:solidFill>
                <a:latin typeface="Consolas" pitchFamily="34" charset="0"/>
                <a:ea typeface="Consolas" pitchFamily="34" charset="-122"/>
                <a:cs typeface="Consolas" pitchFamily="34" charset="-120"/>
              </a:rPr>
              <a:t>0</a:t>
            </a:r>
            <a:r>
              <a:rPr lang="en-US" sz="1050" dirty="0">
                <a:solidFill>
                  <a:srgbClr val="C9D1D9"/>
                </a:solidFill>
                <a:latin typeface="Consolas" pitchFamily="34" charset="0"/>
                <a:ea typeface="Consolas" pitchFamily="34" charset="-122"/>
                <a:cs typeface="Consolas" pitchFamily="34" charset="-120"/>
              </a:rPr>
              <a:t>, cusum_stat + val - baseline)</a:t>
            </a:r>
            <a:endParaRPr lang="en-US" sz="1050" dirty="0"/>
          </a:p>
        </p:txBody>
      </p:sp>
      <p:sp>
        <p:nvSpPr>
          <p:cNvPr id="22" name="Text 20"/>
          <p:cNvSpPr/>
          <p:nvPr/>
        </p:nvSpPr>
        <p:spPr>
          <a:xfrm>
            <a:off x="457200" y="3657600"/>
            <a:ext cx="8321040" cy="201168"/>
          </a:xfrm>
          <a:prstGeom prst="rect">
            <a:avLst/>
          </a:prstGeom>
          <a:noFill/>
          <a:ln/>
        </p:spPr>
        <p:txBody>
          <a:bodyPr wrap="square" lIns="0" tIns="0" rIns="0" bIns="0" rtlCol="0" anchor="ctr"/>
          <a:lstStyle/>
          <a:p>
            <a:pPr marL="0" indent="0">
              <a:buNone/>
            </a:pPr>
            <a:r>
              <a:rPr lang="en-US" sz="1050" dirty="0">
                <a:solidFill>
                  <a:srgbClr val="FF7B72"/>
                </a:solidFill>
                <a:latin typeface="Consolas" pitchFamily="34" charset="0"/>
                <a:ea typeface="Consolas" pitchFamily="34" charset="-122"/>
                <a:cs typeface="Consolas" pitchFamily="34" charset="-120"/>
              </a:rPr>
              <a:t>        if </a:t>
            </a:r>
            <a:r>
              <a:rPr lang="en-US" sz="1050" dirty="0">
                <a:solidFill>
                  <a:srgbClr val="C9D1D9"/>
                </a:solidFill>
                <a:latin typeface="Consolas" pitchFamily="34" charset="0"/>
                <a:ea typeface="Consolas" pitchFamily="34" charset="-122"/>
                <a:cs typeface="Consolas" pitchFamily="34" charset="-120"/>
              </a:rPr>
              <a:t>cusum_stat &gt; threshold:</a:t>
            </a:r>
            <a:endParaRPr lang="en-US" sz="1050" dirty="0"/>
          </a:p>
        </p:txBody>
      </p:sp>
      <p:sp>
        <p:nvSpPr>
          <p:cNvPr id="23" name="Text 21"/>
          <p:cNvSpPr/>
          <p:nvPr/>
        </p:nvSpPr>
        <p:spPr>
          <a:xfrm>
            <a:off x="457200" y="3831336"/>
            <a:ext cx="8321040" cy="201168"/>
          </a:xfrm>
          <a:prstGeom prst="rect">
            <a:avLst/>
          </a:prstGeom>
          <a:noFill/>
          <a:ln/>
        </p:spPr>
        <p:txBody>
          <a:bodyPr wrap="square" lIns="0" tIns="0" rIns="0" bIns="0" rtlCol="0" anchor="ctr"/>
          <a:lstStyle/>
          <a:p>
            <a:pPr marL="0" indent="0">
              <a:buNone/>
            </a:pPr>
            <a:r>
              <a:rPr lang="en-US" sz="1050" dirty="0">
                <a:solidFill>
                  <a:srgbClr val="FF7B72"/>
                </a:solidFill>
                <a:latin typeface="Consolas" pitchFamily="34" charset="0"/>
                <a:ea typeface="Consolas" pitchFamily="34" charset="-122"/>
                <a:cs typeface="Consolas" pitchFamily="34" charset="-120"/>
              </a:rPr>
              <a:t>            return </a:t>
            </a:r>
            <a:r>
              <a:rPr lang="en-US" sz="1050" dirty="0">
                <a:solidFill>
                  <a:srgbClr val="A5D6FF"/>
                </a:solidFill>
                <a:latin typeface="Consolas" pitchFamily="34" charset="0"/>
                <a:ea typeface="Consolas" pitchFamily="34" charset="-122"/>
                <a:cs typeface="Consolas" pitchFamily="34" charset="-120"/>
              </a:rPr>
              <a:t>"DDoS Attack Detected!  🚨"</a:t>
            </a:r>
            <a:endParaRPr lang="en-US" sz="1050" dirty="0"/>
          </a:p>
        </p:txBody>
      </p:sp>
      <p:sp>
        <p:nvSpPr>
          <p:cNvPr id="24" name="Text 22"/>
          <p:cNvSpPr/>
          <p:nvPr/>
        </p:nvSpPr>
        <p:spPr>
          <a:xfrm>
            <a:off x="457200" y="4005072"/>
            <a:ext cx="8321040" cy="201168"/>
          </a:xfrm>
          <a:prstGeom prst="rect">
            <a:avLst/>
          </a:prstGeom>
          <a:noFill/>
          <a:ln/>
        </p:spPr>
        <p:txBody>
          <a:bodyPr wrap="square" lIns="0" tIns="0" rIns="0" bIns="0" rtlCol="0" anchor="ctr"/>
          <a:lstStyle/>
          <a:p>
            <a:pPr marL="0" indent="0">
              <a:buNone/>
            </a:pPr>
            <a:r>
              <a:rPr lang="en-US" sz="1050" dirty="0">
                <a:solidFill>
                  <a:srgbClr val="FF7B72"/>
                </a:solidFill>
                <a:latin typeface="Consolas" pitchFamily="34" charset="0"/>
                <a:ea typeface="Consolas" pitchFamily="34" charset="-122"/>
                <a:cs typeface="Consolas" pitchFamily="34" charset="-120"/>
              </a:rPr>
              <a:t>    return </a:t>
            </a:r>
            <a:r>
              <a:rPr lang="en-US" sz="1050" dirty="0">
                <a:solidFill>
                  <a:srgbClr val="A8FF78"/>
                </a:solidFill>
                <a:latin typeface="Consolas" pitchFamily="34" charset="0"/>
                <a:ea typeface="Consolas" pitchFamily="34" charset="-122"/>
                <a:cs typeface="Consolas" pitchFamily="34" charset="-120"/>
              </a:rPr>
              <a:t>"Normal Traffic  ✔"</a:t>
            </a:r>
            <a:endParaRPr lang="en-US" sz="1050" dirty="0"/>
          </a:p>
        </p:txBody>
      </p:sp>
      <p:sp>
        <p:nvSpPr>
          <p:cNvPr id="25" name="Shape 23"/>
          <p:cNvSpPr/>
          <p:nvPr/>
        </p:nvSpPr>
        <p:spPr>
          <a:xfrm>
            <a:off x="256032" y="4480560"/>
            <a:ext cx="8631936" cy="320040"/>
          </a:xfrm>
          <a:prstGeom prst="rect">
            <a:avLst/>
          </a:prstGeom>
          <a:solidFill>
            <a:srgbClr val="DBEAFE"/>
          </a:solidFill>
          <a:ln w="6350">
            <a:solidFill>
              <a:srgbClr val="2563EB"/>
            </a:solidFill>
            <a:prstDash val="solid"/>
          </a:ln>
        </p:spPr>
      </p:sp>
      <p:sp>
        <p:nvSpPr>
          <p:cNvPr id="26" name="Text 24"/>
          <p:cNvSpPr/>
          <p:nvPr/>
        </p:nvSpPr>
        <p:spPr>
          <a:xfrm>
            <a:off x="347472" y="4480560"/>
            <a:ext cx="8503920" cy="320040"/>
          </a:xfrm>
          <a:prstGeom prst="rect">
            <a:avLst/>
          </a:prstGeom>
          <a:noFill/>
          <a:ln/>
        </p:spPr>
        <p:txBody>
          <a:bodyPr wrap="square" rtlCol="0" anchor="ctr"/>
          <a:lstStyle/>
          <a:p>
            <a:pPr marL="0" indent="0">
              <a:buNone/>
            </a:pPr>
            <a:r>
              <a:rPr lang="en-US" sz="950" dirty="0">
                <a:solidFill>
                  <a:srgbClr val="1E3A5F"/>
                </a:solidFill>
                <a:latin typeface="Calibri" pitchFamily="34" charset="0"/>
                <a:ea typeface="Calibri" pitchFamily="34" charset="-122"/>
                <a:cs typeface="Calibri" pitchFamily="34" charset="-120"/>
              </a:rPr>
              <a:t>compute_entropy() calculates Shannon Entropy. cusum_detect() monitors cumulative entropy deviation from baseline and triggers an alert when the threshold is exceeded.</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  Results</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16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Text 6"/>
          <p:cNvSpPr/>
          <p:nvPr/>
        </p:nvSpPr>
        <p:spPr>
          <a:xfrm>
            <a:off x="365760" y="804672"/>
            <a:ext cx="8412480" cy="329184"/>
          </a:xfrm>
          <a:prstGeom prst="rect">
            <a:avLst/>
          </a:prstGeom>
          <a:noFill/>
          <a:ln/>
        </p:spPr>
        <p:txBody>
          <a:bodyPr wrap="square"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Model Performance Metrics (Tested on Real DDoS Dataset):</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67903458"/>
              </p:ext>
            </p:extLst>
          </p:nvPr>
        </p:nvGraphicFramePr>
        <p:xfrm>
          <a:off x="274320" y="1207008"/>
          <a:ext cx="5813658" cy="2414016"/>
        </p:xfrm>
        <a:graphic>
          <a:graphicData uri="http://schemas.openxmlformats.org/drawingml/2006/table">
            <a:tbl>
              <a:tblPr/>
              <a:tblGrid>
                <a:gridCol w="1827150">
                  <a:extLst>
                    <a:ext uri="{9D8B030D-6E8A-4147-A177-3AD203B41FA5}">
                      <a16:colId xmlns:a16="http://schemas.microsoft.com/office/drawing/2014/main" val="20000"/>
                    </a:ext>
                  </a:extLst>
                </a:gridCol>
                <a:gridCol w="1993254">
                  <a:extLst>
                    <a:ext uri="{9D8B030D-6E8A-4147-A177-3AD203B41FA5}">
                      <a16:colId xmlns:a16="http://schemas.microsoft.com/office/drawing/2014/main" val="20001"/>
                    </a:ext>
                  </a:extLst>
                </a:gridCol>
                <a:gridCol w="1993254">
                  <a:extLst>
                    <a:ext uri="{9D8B030D-6E8A-4147-A177-3AD203B41FA5}">
                      <a16:colId xmlns:a16="http://schemas.microsoft.com/office/drawing/2014/main" val="20002"/>
                    </a:ext>
                  </a:extLst>
                </a:gridCol>
              </a:tblGrid>
              <a:tr h="40233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CUSUM Entropy Model</a:t>
                      </a:r>
                      <a:endParaRPr lang="en-US" sz="12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Traditional SVM</a:t>
                      </a:r>
                      <a:endParaRPr lang="en-US" sz="12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tcPr>
                </a:tc>
                <a:tc>
                  <a:txBody>
                    <a:bodyPr/>
                    <a:lstStyle/>
                    <a:p>
                      <a:pPr marL="0" indent="0" algn="ctr">
                        <a:buNone/>
                      </a:pPr>
                      <a:r>
                        <a:rPr lang="en-US" sz="1200" b="1" dirty="0">
                          <a:solidFill>
                            <a:srgbClr val="16A34A"/>
                          </a:solidFill>
                          <a:latin typeface="Calibri" pitchFamily="34" charset="0"/>
                          <a:ea typeface="Calibri" pitchFamily="34" charset="-122"/>
                          <a:cs typeface="Calibri" pitchFamily="34" charset="-120"/>
                        </a:rPr>
                        <a:t>92%</a:t>
                      </a:r>
                      <a:endParaRPr lang="en-US" sz="12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8FAFC"/>
                    </a:solidFill>
                  </a:tcPr>
                </a:tc>
                <a:tc>
                  <a:txBody>
                    <a:bodyPr/>
                    <a:lstStyle/>
                    <a:p>
                      <a:pPr marL="0" indent="0" algn="ctr">
                        <a:buNone/>
                      </a:pPr>
                      <a:r>
                        <a:rPr lang="en-US" sz="1200" b="1" dirty="0">
                          <a:solidFill>
                            <a:srgbClr val="16A34A"/>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83%</a:t>
                      </a:r>
                      <a:endParaRPr lang="en-US" sz="11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tcPr>
                </a:tc>
                <a:tc>
                  <a:txBody>
                    <a:bodyPr/>
                    <a:lstStyle/>
                    <a:p>
                      <a:pPr marL="0" indent="0" algn="ctr">
                        <a:buNone/>
                      </a:pPr>
                      <a:r>
                        <a:rPr lang="en-US" sz="1200" b="1" dirty="0">
                          <a:solidFill>
                            <a:srgbClr val="16A34A"/>
                          </a:solidFill>
                          <a:latin typeface="Calibri" pitchFamily="34" charset="0"/>
                          <a:ea typeface="Calibri" pitchFamily="34" charset="-122"/>
                          <a:cs typeface="Calibri" pitchFamily="34" charset="-120"/>
                        </a:rPr>
                        <a:t>93%</a:t>
                      </a:r>
                      <a:endParaRPr lang="en-US" sz="12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86%</a:t>
                      </a:r>
                      <a:endParaRPr lang="en-US" sz="11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F1-Score</a:t>
                      </a:r>
                      <a:endParaRPr lang="en-US" sz="11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8FAFC"/>
                    </a:solidFill>
                  </a:tcPr>
                </a:tc>
                <a:tc>
                  <a:txBody>
                    <a:bodyPr/>
                    <a:lstStyle/>
                    <a:p>
                      <a:pPr marL="0" indent="0" algn="ctr">
                        <a:buNone/>
                      </a:pPr>
                      <a:r>
                        <a:rPr lang="en-US" sz="1200" b="1" dirty="0">
                          <a:solidFill>
                            <a:srgbClr val="16A34A"/>
                          </a:solidFill>
                          <a:latin typeface="Calibri" pitchFamily="34" charset="0"/>
                          <a:ea typeface="Calibri" pitchFamily="34" charset="-122"/>
                          <a:cs typeface="Calibri" pitchFamily="34" charset="-120"/>
                        </a:rPr>
                        <a:t>91%</a:t>
                      </a:r>
                      <a:endParaRPr lang="en-US" sz="12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84%</a:t>
                      </a:r>
                      <a:endParaRPr lang="en-US" sz="11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False Positive Rate</a:t>
                      </a:r>
                      <a:endParaRPr lang="en-US" sz="11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tcPr>
                </a:tc>
                <a:tc>
                  <a:txBody>
                    <a:bodyPr/>
                    <a:lstStyle/>
                    <a:p>
                      <a:pPr marL="0" indent="0" algn="ctr">
                        <a:buNone/>
                      </a:pPr>
                      <a:r>
                        <a:rPr lang="en-US" sz="1200" b="1" dirty="0">
                          <a:solidFill>
                            <a:srgbClr val="16A34A"/>
                          </a:solidFill>
                          <a:latin typeface="Calibri" pitchFamily="34" charset="0"/>
                          <a:ea typeface="Calibri" pitchFamily="34" charset="-122"/>
                          <a:cs typeface="Calibri" pitchFamily="34" charset="-120"/>
                        </a:rPr>
                        <a:t>Low (8%)</a:t>
                      </a:r>
                      <a:endParaRPr lang="en-US" sz="12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Medium (15%)</a:t>
                      </a:r>
                      <a:endParaRPr lang="en-US" sz="1100" dirty="0">
                        <a:latin typeface="Calibri" charset="0"/>
                        <a:ea typeface="Calibri" charset="0"/>
                        <a:cs typeface="Calibri" charset="0"/>
                      </a:endParaRPr>
                    </a:p>
                  </a:txBody>
                  <a:tcPr>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 7"/>
          <p:cNvSpPr/>
          <p:nvPr/>
        </p:nvSpPr>
        <p:spPr>
          <a:xfrm>
            <a:off x="365760" y="3675888"/>
            <a:ext cx="8229600" cy="310896"/>
          </a:xfrm>
          <a:prstGeom prst="rect">
            <a:avLst/>
          </a:prstGeom>
          <a:noFill/>
          <a:ln/>
        </p:spPr>
        <p:txBody>
          <a:bodyPr wrap="square"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Key Findings:</a:t>
            </a:r>
            <a:endParaRPr lang="en-US" sz="1250" dirty="0"/>
          </a:p>
        </p:txBody>
      </p:sp>
      <p:sp>
        <p:nvSpPr>
          <p:cNvPr id="11" name="Text 8"/>
          <p:cNvSpPr/>
          <p:nvPr/>
        </p:nvSpPr>
        <p:spPr>
          <a:xfrm>
            <a:off x="365760" y="4041648"/>
            <a:ext cx="8412480" cy="23774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  92% detection accuracy — outperforms SVM (85%) and Decision Tree (80%)</a:t>
            </a:r>
            <a:endParaRPr lang="en-US" sz="1050" dirty="0"/>
          </a:p>
        </p:txBody>
      </p:sp>
      <p:sp>
        <p:nvSpPr>
          <p:cNvPr id="12" name="Text 9"/>
          <p:cNvSpPr/>
          <p:nvPr/>
        </p:nvSpPr>
        <p:spPr>
          <a:xfrm>
            <a:off x="365760" y="4279392"/>
            <a:ext cx="8412480" cy="23774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  CUSUM detects attack onset within the same time window — real-time response</a:t>
            </a:r>
            <a:endParaRPr lang="en-US" sz="1050" dirty="0"/>
          </a:p>
        </p:txBody>
      </p:sp>
      <p:sp>
        <p:nvSpPr>
          <p:cNvPr id="13" name="Text 10"/>
          <p:cNvSpPr/>
          <p:nvPr/>
        </p:nvSpPr>
        <p:spPr>
          <a:xfrm>
            <a:off x="365760" y="4517136"/>
            <a:ext cx="8412480" cy="23774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  Robust against volumetric, protocol-based and application-layer DDoS variants</a:t>
            </a:r>
            <a:endParaRPr lang="en-US" sz="1050" dirty="0"/>
          </a:p>
        </p:txBody>
      </p:sp>
      <p:sp>
        <p:nvSpPr>
          <p:cNvPr id="14" name="Text 11"/>
          <p:cNvSpPr/>
          <p:nvPr/>
        </p:nvSpPr>
        <p:spPr>
          <a:xfrm>
            <a:off x="365760" y="4754880"/>
            <a:ext cx="8412480" cy="23774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  Validated on real-world DDoS datasets with labelled Normal / Attack records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m.  Conclusion &amp; Future Enhancement</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17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Shape 6"/>
          <p:cNvSpPr/>
          <p:nvPr/>
        </p:nvSpPr>
        <p:spPr>
          <a:xfrm>
            <a:off x="256032" y="804672"/>
            <a:ext cx="8631936" cy="402336"/>
          </a:xfrm>
          <a:prstGeom prst="rect">
            <a:avLst/>
          </a:prstGeom>
          <a:solidFill>
            <a:srgbClr val="DBEAFE"/>
          </a:solidFill>
          <a:ln w="10160">
            <a:solidFill>
              <a:srgbClr val="2563EB"/>
            </a:solidFill>
            <a:prstDash val="solid"/>
          </a:ln>
        </p:spPr>
      </p:sp>
      <p:sp>
        <p:nvSpPr>
          <p:cNvPr id="9" name="Text 7"/>
          <p:cNvSpPr/>
          <p:nvPr/>
        </p:nvSpPr>
        <p:spPr>
          <a:xfrm>
            <a:off x="347472" y="804672"/>
            <a:ext cx="8412480" cy="402336"/>
          </a:xfrm>
          <a:prstGeom prst="rect">
            <a:avLst/>
          </a:prstGeom>
          <a:noFill/>
          <a:ln/>
        </p:spPr>
        <p:txBody>
          <a:bodyPr wrap="square" rtlCol="0" anchor="ctr"/>
          <a:lstStyle/>
          <a:p>
            <a:pPr marL="0" indent="0">
              <a:buNone/>
            </a:pPr>
            <a:r>
              <a:rPr lang="en-US" sz="1350" b="1" dirty="0">
                <a:solidFill>
                  <a:srgbClr val="1E3A5F"/>
                </a:solidFill>
                <a:latin typeface="Calibri" pitchFamily="34" charset="0"/>
                <a:ea typeface="Calibri" pitchFamily="34" charset="-122"/>
                <a:cs typeface="Calibri" pitchFamily="34" charset="-120"/>
              </a:rPr>
              <a:t>Conclusion</a:t>
            </a:r>
            <a:endParaRPr lang="en-US" sz="1350" dirty="0"/>
          </a:p>
        </p:txBody>
      </p:sp>
      <p:sp>
        <p:nvSpPr>
          <p:cNvPr id="10" name="Shape 8"/>
          <p:cNvSpPr/>
          <p:nvPr/>
        </p:nvSpPr>
        <p:spPr>
          <a:xfrm>
            <a:off x="274320" y="1280160"/>
            <a:ext cx="256032" cy="256032"/>
          </a:xfrm>
          <a:prstGeom prst="ellipse">
            <a:avLst/>
          </a:prstGeom>
          <a:solidFill>
            <a:srgbClr val="16A34A"/>
          </a:solidFill>
          <a:ln w="12700">
            <a:solidFill>
              <a:srgbClr val="16A34A"/>
            </a:solidFill>
            <a:prstDash val="solid"/>
          </a:ln>
        </p:spPr>
      </p:sp>
      <p:sp>
        <p:nvSpPr>
          <p:cNvPr id="11" name="Text 9"/>
          <p:cNvSpPr/>
          <p:nvPr/>
        </p:nvSpPr>
        <p:spPr>
          <a:xfrm>
            <a:off x="658368" y="1243584"/>
            <a:ext cx="8229600" cy="38404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Entropy-based DDoS detection using CUSUM significantly improves network security accuracy to 92%</a:t>
            </a:r>
            <a:endParaRPr lang="en-US" sz="1150" dirty="0"/>
          </a:p>
        </p:txBody>
      </p:sp>
      <p:sp>
        <p:nvSpPr>
          <p:cNvPr id="12" name="Shape 10"/>
          <p:cNvSpPr/>
          <p:nvPr/>
        </p:nvSpPr>
        <p:spPr>
          <a:xfrm>
            <a:off x="274320" y="1810512"/>
            <a:ext cx="256032" cy="256032"/>
          </a:xfrm>
          <a:prstGeom prst="ellipse">
            <a:avLst/>
          </a:prstGeom>
          <a:solidFill>
            <a:srgbClr val="16A34A"/>
          </a:solidFill>
          <a:ln w="12700">
            <a:solidFill>
              <a:srgbClr val="16A34A"/>
            </a:solidFill>
            <a:prstDash val="solid"/>
          </a:ln>
        </p:spPr>
      </p:sp>
      <p:sp>
        <p:nvSpPr>
          <p:cNvPr id="13" name="Text 11"/>
          <p:cNvSpPr/>
          <p:nvPr/>
        </p:nvSpPr>
        <p:spPr>
          <a:xfrm>
            <a:off x="658368" y="1773936"/>
            <a:ext cx="8229600" cy="38404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The system efficiently identifies abnormal traffic behaviour in real-time with low false positive rates</a:t>
            </a:r>
            <a:endParaRPr lang="en-US" sz="1150" dirty="0"/>
          </a:p>
        </p:txBody>
      </p:sp>
      <p:sp>
        <p:nvSpPr>
          <p:cNvPr id="14" name="Shape 12"/>
          <p:cNvSpPr/>
          <p:nvPr/>
        </p:nvSpPr>
        <p:spPr>
          <a:xfrm>
            <a:off x="274320" y="2340864"/>
            <a:ext cx="256032" cy="256032"/>
          </a:xfrm>
          <a:prstGeom prst="ellipse">
            <a:avLst/>
          </a:prstGeom>
          <a:solidFill>
            <a:srgbClr val="16A34A"/>
          </a:solidFill>
          <a:ln w="12700">
            <a:solidFill>
              <a:srgbClr val="16A34A"/>
            </a:solidFill>
            <a:prstDash val="solid"/>
          </a:ln>
        </p:spPr>
      </p:sp>
      <p:sp>
        <p:nvSpPr>
          <p:cNvPr id="15" name="Text 13"/>
          <p:cNvSpPr/>
          <p:nvPr/>
        </p:nvSpPr>
        <p:spPr>
          <a:xfrm>
            <a:off x="658368" y="2304288"/>
            <a:ext cx="8229600" cy="38404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Entropy analysis provides a proactive and adaptive defence against DDoS on critical infrastructure</a:t>
            </a:r>
            <a:endParaRPr lang="en-US" sz="1150" dirty="0"/>
          </a:p>
        </p:txBody>
      </p:sp>
      <p:sp>
        <p:nvSpPr>
          <p:cNvPr id="16" name="Shape 14"/>
          <p:cNvSpPr/>
          <p:nvPr/>
        </p:nvSpPr>
        <p:spPr>
          <a:xfrm>
            <a:off x="274320" y="2871216"/>
            <a:ext cx="256032" cy="256032"/>
          </a:xfrm>
          <a:prstGeom prst="ellipse">
            <a:avLst/>
          </a:prstGeom>
          <a:solidFill>
            <a:srgbClr val="16A34A"/>
          </a:solidFill>
          <a:ln w="12700">
            <a:solidFill>
              <a:srgbClr val="16A34A"/>
            </a:solidFill>
            <a:prstDash val="solid"/>
          </a:ln>
        </p:spPr>
      </p:sp>
      <p:sp>
        <p:nvSpPr>
          <p:cNvPr id="17" name="Text 15"/>
          <p:cNvSpPr/>
          <p:nvPr/>
        </p:nvSpPr>
        <p:spPr>
          <a:xfrm>
            <a:off x="658368" y="2834640"/>
            <a:ext cx="8229600" cy="38404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The open-source GUI-based pipeline makes the system accessible for research and production environments</a:t>
            </a:r>
            <a:endParaRPr lang="en-US" sz="1150" dirty="0"/>
          </a:p>
        </p:txBody>
      </p:sp>
      <p:sp>
        <p:nvSpPr>
          <p:cNvPr id="18" name="Shape 16"/>
          <p:cNvSpPr/>
          <p:nvPr/>
        </p:nvSpPr>
        <p:spPr>
          <a:xfrm>
            <a:off x="256032" y="3419856"/>
            <a:ext cx="8631936" cy="402336"/>
          </a:xfrm>
          <a:prstGeom prst="rect">
            <a:avLst/>
          </a:prstGeom>
          <a:solidFill>
            <a:srgbClr val="DBEAFE"/>
          </a:solidFill>
          <a:ln w="10160">
            <a:solidFill>
              <a:srgbClr val="2563EB"/>
            </a:solidFill>
            <a:prstDash val="solid"/>
          </a:ln>
        </p:spPr>
      </p:sp>
      <p:sp>
        <p:nvSpPr>
          <p:cNvPr id="19" name="Text 17"/>
          <p:cNvSpPr/>
          <p:nvPr/>
        </p:nvSpPr>
        <p:spPr>
          <a:xfrm>
            <a:off x="347472" y="3419856"/>
            <a:ext cx="8412480" cy="402336"/>
          </a:xfrm>
          <a:prstGeom prst="rect">
            <a:avLst/>
          </a:prstGeom>
          <a:noFill/>
          <a:ln/>
        </p:spPr>
        <p:txBody>
          <a:bodyPr wrap="square" rtlCol="0" anchor="ctr"/>
          <a:lstStyle/>
          <a:p>
            <a:pPr marL="0" indent="0">
              <a:buNone/>
            </a:pPr>
            <a:r>
              <a:rPr lang="en-US" sz="1350" b="1" dirty="0">
                <a:solidFill>
                  <a:srgbClr val="1E3A5F"/>
                </a:solidFill>
                <a:latin typeface="Calibri" pitchFamily="34" charset="0"/>
                <a:ea typeface="Calibri" pitchFamily="34" charset="-122"/>
                <a:cs typeface="Calibri" pitchFamily="34" charset="-120"/>
              </a:rPr>
              <a:t>Future Enhancements</a:t>
            </a:r>
            <a:endParaRPr lang="en-US" sz="1350" dirty="0"/>
          </a:p>
        </p:txBody>
      </p:sp>
      <p:sp>
        <p:nvSpPr>
          <p:cNvPr id="20" name="Text 18"/>
          <p:cNvSpPr/>
          <p:nvPr/>
        </p:nvSpPr>
        <p:spPr>
          <a:xfrm>
            <a:off x="256032" y="3913632"/>
            <a:ext cx="416052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  Deep Learning Models — Integrate LSTM / CNN for capturing complex temporal attack patterns</a:t>
            </a:r>
            <a:endParaRPr lang="en-US" sz="1050" dirty="0"/>
          </a:p>
        </p:txBody>
      </p:sp>
      <p:sp>
        <p:nvSpPr>
          <p:cNvPr id="21" name="Text 19"/>
          <p:cNvSpPr/>
          <p:nvPr/>
        </p:nvSpPr>
        <p:spPr>
          <a:xfrm>
            <a:off x="4626864" y="3913632"/>
            <a:ext cx="416052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  Firewall Integration — Direct integration with firewalls for automated IP blocking on detection</a:t>
            </a:r>
            <a:endParaRPr lang="en-US" sz="1050" dirty="0"/>
          </a:p>
        </p:txBody>
      </p:sp>
      <p:sp>
        <p:nvSpPr>
          <p:cNvPr id="22" name="Text 20"/>
          <p:cNvSpPr/>
          <p:nvPr/>
        </p:nvSpPr>
        <p:spPr>
          <a:xfrm>
            <a:off x="256032" y="4425696"/>
            <a:ext cx="416052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  Live Visualization Dashboard — Web dashboard using Grafana/Prometheus for real-time traffic monitoring</a:t>
            </a:r>
            <a:endParaRPr lang="en-US" sz="1050" dirty="0"/>
          </a:p>
        </p:txBody>
      </p:sp>
      <p:sp>
        <p:nvSpPr>
          <p:cNvPr id="23" name="Text 21"/>
          <p:cNvSpPr/>
          <p:nvPr/>
        </p:nvSpPr>
        <p:spPr>
          <a:xfrm>
            <a:off x="4626864" y="4425696"/>
            <a:ext cx="416052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  Cloud &amp; IoT Deployment — Extend system to cloud-based and resource-constrained IoT environments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04672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n.  References</a:t>
            </a:r>
            <a:endParaRPr lang="en-US" sz="2100" dirty="0"/>
          </a:p>
        </p:txBody>
      </p:sp>
      <p:sp>
        <p:nvSpPr>
          <p:cNvPr id="5" name="Text 3"/>
          <p:cNvSpPr/>
          <p:nvPr/>
        </p:nvSpPr>
        <p:spPr>
          <a:xfrm>
            <a:off x="8229600" y="36576"/>
            <a:ext cx="731520" cy="594360"/>
          </a:xfrm>
          <a:prstGeom prst="rect">
            <a:avLst/>
          </a:prstGeom>
          <a:noFill/>
          <a:ln/>
        </p:spPr>
        <p:txBody>
          <a:bodyPr wrap="square" rtlCol="0" anchor="ctr"/>
          <a:lstStyle/>
          <a:p>
            <a:pPr marL="0" indent="0" algn="r">
              <a:buNone/>
            </a:pPr>
            <a:r>
              <a:rPr lang="en-US" sz="1000" dirty="0">
                <a:solidFill>
                  <a:srgbClr val="90A4AE"/>
                </a:solidFill>
                <a:latin typeface="Calibri" pitchFamily="34" charset="0"/>
                <a:ea typeface="Calibri" pitchFamily="34" charset="-122"/>
                <a:cs typeface="Calibri" pitchFamily="34" charset="-120"/>
              </a:rPr>
              <a:t>18 / 19</a:t>
            </a:r>
            <a:endParaRPr lang="en-US" sz="1000" dirty="0"/>
          </a:p>
        </p:txBody>
      </p:sp>
      <p:sp>
        <p:nvSpPr>
          <p:cNvPr id="6" name="Shape 4"/>
          <p:cNvSpPr/>
          <p:nvPr/>
        </p:nvSpPr>
        <p:spPr>
          <a:xfrm>
            <a:off x="0" y="5001768"/>
            <a:ext cx="9144000" cy="141732"/>
          </a:xfrm>
          <a:prstGeom prst="rect">
            <a:avLst/>
          </a:prstGeom>
          <a:solidFill>
            <a:srgbClr val="E2E8F0"/>
          </a:solidFill>
          <a:ln w="12700">
            <a:solidFill>
              <a:srgbClr val="E2E8F0"/>
            </a:solidFill>
            <a:prstDash val="solid"/>
          </a:ln>
        </p:spPr>
      </p:sp>
      <p:sp>
        <p:nvSpPr>
          <p:cNvPr id="7" name="Text 5"/>
          <p:cNvSpPr/>
          <p:nvPr/>
        </p:nvSpPr>
        <p:spPr>
          <a:xfrm>
            <a:off x="182880" y="5001768"/>
            <a:ext cx="8778240" cy="14173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AI-Driven DDoS Protection  |  CMR Technical Campus  |  RTRP Review-II  |  Dept. of CSE</a:t>
            </a:r>
            <a:endParaRPr lang="en-US" sz="800" dirty="0"/>
          </a:p>
        </p:txBody>
      </p:sp>
      <p:sp>
        <p:nvSpPr>
          <p:cNvPr id="8" name="Text 6"/>
          <p:cNvSpPr/>
          <p:nvPr/>
        </p:nvSpPr>
        <p:spPr>
          <a:xfrm>
            <a:off x="256032" y="822960"/>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[1] Page, E.S. (1954). Continuous inspection schemes. Biometrika, 41(1/2), 100-115.</a:t>
            </a:r>
            <a:endParaRPr lang="en-US" sz="980" dirty="0"/>
          </a:p>
        </p:txBody>
      </p:sp>
      <p:sp>
        <p:nvSpPr>
          <p:cNvPr id="9" name="Text 7"/>
          <p:cNvSpPr/>
          <p:nvPr/>
        </p:nvSpPr>
        <p:spPr>
          <a:xfrm>
            <a:off x="4736592" y="822960"/>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[2] Feinstein, L. et al. (2003). Statistical approaches to DDoS attack detection. DARPA DISCEX III, pp.303-314.</a:t>
            </a:r>
            <a:endParaRPr lang="en-US" sz="980" dirty="0"/>
          </a:p>
        </p:txBody>
      </p:sp>
      <p:sp>
        <p:nvSpPr>
          <p:cNvPr id="10" name="Text 8"/>
          <p:cNvSpPr/>
          <p:nvPr/>
        </p:nvSpPr>
        <p:spPr>
          <a:xfrm>
            <a:off x="256032" y="1499616"/>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[3] Lakhina, A. et al. (2004). Diagnosing network-wide traffic anomalies. ACM SIGCOMM, 34(4), 219-230.</a:t>
            </a:r>
            <a:endParaRPr lang="en-US" sz="980" dirty="0"/>
          </a:p>
        </p:txBody>
      </p:sp>
      <p:sp>
        <p:nvSpPr>
          <p:cNvPr id="11" name="Text 9"/>
          <p:cNvSpPr/>
          <p:nvPr/>
        </p:nvSpPr>
        <p:spPr>
          <a:xfrm>
            <a:off x="4736592" y="1499616"/>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[4] Douligeris, C. &amp; Mitrokotsa, A. (2004). DDoS attacks and defense mechanisms. Computer Networks, 44(5), 643-666.</a:t>
            </a:r>
            <a:endParaRPr lang="en-US" sz="980" dirty="0"/>
          </a:p>
        </p:txBody>
      </p:sp>
      <p:sp>
        <p:nvSpPr>
          <p:cNvPr id="12" name="Text 10"/>
          <p:cNvSpPr/>
          <p:nvPr/>
        </p:nvSpPr>
        <p:spPr>
          <a:xfrm>
            <a:off x="256032" y="2176272"/>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[5] Yuan, X. et al. (2017). DeepDefense: Identifying DDoS attack via deep learning. IEEE SMARTCOMP, pp.1-8.</a:t>
            </a:r>
            <a:endParaRPr lang="en-US" sz="980" dirty="0"/>
          </a:p>
        </p:txBody>
      </p:sp>
      <p:sp>
        <p:nvSpPr>
          <p:cNvPr id="13" name="Text 11"/>
          <p:cNvSpPr/>
          <p:nvPr/>
        </p:nvSpPr>
        <p:spPr>
          <a:xfrm>
            <a:off x="4736592" y="2176272"/>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[6] Nychis, G. et al. (2008). Empirical evaluation of entropy-based traffic anomaly detection. ACM SIGCOMM, pp.151-156.</a:t>
            </a:r>
            <a:endParaRPr lang="en-US" sz="980" dirty="0"/>
          </a:p>
        </p:txBody>
      </p:sp>
      <p:sp>
        <p:nvSpPr>
          <p:cNvPr id="14" name="Text 12"/>
          <p:cNvSpPr/>
          <p:nvPr/>
        </p:nvSpPr>
        <p:spPr>
          <a:xfrm>
            <a:off x="256032" y="2852928"/>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[7] Shannon, C.E. (1948). A mathematical theory of communication. Bell System Technical Journal, 27(3), 379-423.</a:t>
            </a:r>
            <a:endParaRPr lang="en-US" sz="980" dirty="0"/>
          </a:p>
        </p:txBody>
      </p:sp>
      <p:sp>
        <p:nvSpPr>
          <p:cNvPr id="15" name="Text 13"/>
          <p:cNvSpPr/>
          <p:nvPr/>
        </p:nvSpPr>
        <p:spPr>
          <a:xfrm>
            <a:off x="4736592" y="2852928"/>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[8] Teimouri, M. et al. (2019). Entropy-based detection and filtering of DDoS attacks in SDN. JNCA, 133, 45-54.</a:t>
            </a:r>
            <a:endParaRPr lang="en-US" sz="980" dirty="0"/>
          </a:p>
        </p:txBody>
      </p:sp>
      <p:sp>
        <p:nvSpPr>
          <p:cNvPr id="16" name="Text 14"/>
          <p:cNvSpPr/>
          <p:nvPr/>
        </p:nvSpPr>
        <p:spPr>
          <a:xfrm>
            <a:off x="256032" y="3529584"/>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[9] Mirkovic, J. &amp; Reiher, P. (2004). A taxonomy of DDoS attack and defense mechanisms. ACM SIGCOMM, 34(2), 39-53.</a:t>
            </a:r>
            <a:endParaRPr lang="en-US" sz="980" dirty="0"/>
          </a:p>
        </p:txBody>
      </p:sp>
      <p:sp>
        <p:nvSpPr>
          <p:cNvPr id="17" name="Text 15"/>
          <p:cNvSpPr/>
          <p:nvPr/>
        </p:nvSpPr>
        <p:spPr>
          <a:xfrm>
            <a:off x="4736592" y="3529584"/>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[10] Breiman, L. (2001). Random forests. Machine Learning, 45(1), 5-32.</a:t>
            </a:r>
            <a:endParaRPr lang="en-US" sz="980" dirty="0"/>
          </a:p>
        </p:txBody>
      </p:sp>
      <p:sp>
        <p:nvSpPr>
          <p:cNvPr id="18" name="Text 16"/>
          <p:cNvSpPr/>
          <p:nvPr/>
        </p:nvSpPr>
        <p:spPr>
          <a:xfrm>
            <a:off x="256032" y="4206240"/>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[11] Cortes, C. &amp; Vapnik, V. (1995). Support-vector networks. Machine Learning, 20(3), 273-297.</a:t>
            </a:r>
            <a:endParaRPr lang="en-US" sz="980" dirty="0"/>
          </a:p>
        </p:txBody>
      </p:sp>
      <p:sp>
        <p:nvSpPr>
          <p:cNvPr id="19" name="Text 17"/>
          <p:cNvSpPr/>
          <p:nvPr/>
        </p:nvSpPr>
        <p:spPr>
          <a:xfrm>
            <a:off x="4736592" y="4206240"/>
            <a:ext cx="4279392" cy="621792"/>
          </a:xfrm>
          <a:prstGeom prst="rect">
            <a:avLst/>
          </a:prstGeom>
          <a:noFill/>
          <a:ln/>
        </p:spPr>
        <p:txBody>
          <a:bodyPr wrap="square" rtlCol="0" anchor="ctr"/>
          <a:lstStyle/>
          <a:p>
            <a:pPr marL="0" indent="0">
              <a:buNone/>
            </a:pPr>
            <a:r>
              <a:rPr lang="en-US" sz="980" dirty="0">
                <a:solidFill>
                  <a:srgbClr val="1A1A2E"/>
                </a:solidFill>
                <a:latin typeface="Calibri" pitchFamily="34" charset="0"/>
                <a:ea typeface="Calibri" pitchFamily="34" charset="-122"/>
                <a:cs typeface="Calibri" pitchFamily="34" charset="-120"/>
              </a:rPr>
              <a:t>[12] Naseer, M.H. &amp; Saeed, A. (2017). Survey on entropy-based techniques for DDoS detection. Computers &amp; Security, 66, 126-143.</a:t>
            </a:r>
            <a:endParaRPr lang="en-US" sz="9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0" y="658368"/>
            <a:ext cx="9144000" cy="36576"/>
          </a:xfrm>
          <a:prstGeom prst="rect">
            <a:avLst/>
          </a:prstGeom>
          <a:solidFill>
            <a:srgbClr val="2563EB"/>
          </a:solidFill>
          <a:ln w="12700">
            <a:solidFill>
              <a:srgbClr val="2563EB"/>
            </a:solidFill>
            <a:prstDash val="solid"/>
          </a:ln>
        </p:spPr>
      </p:sp>
      <p:sp>
        <p:nvSpPr>
          <p:cNvPr id="4" name="Text 2"/>
          <p:cNvSpPr/>
          <p:nvPr/>
        </p:nvSpPr>
        <p:spPr>
          <a:xfrm>
            <a:off x="274320" y="36576"/>
            <a:ext cx="8595360" cy="59436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o.  GitHub Link  &amp;  Thank You!</a:t>
            </a:r>
            <a:endParaRPr lang="en-US" sz="2100" dirty="0"/>
          </a:p>
        </p:txBody>
      </p:sp>
      <p:sp>
        <p:nvSpPr>
          <p:cNvPr id="5" name="Shape 3"/>
          <p:cNvSpPr/>
          <p:nvPr/>
        </p:nvSpPr>
        <p:spPr>
          <a:xfrm>
            <a:off x="914400" y="914400"/>
            <a:ext cx="7315200" cy="1234440"/>
          </a:xfrm>
          <a:prstGeom prst="rect">
            <a:avLst/>
          </a:prstGeom>
          <a:solidFill>
            <a:srgbClr val="DBEAFE"/>
          </a:solidFill>
          <a:ln w="15240">
            <a:solidFill>
              <a:srgbClr val="2563EB"/>
            </a:solidFill>
            <a:prstDash val="solid"/>
          </a:ln>
          <a:effectLst>
            <a:outerShdw blurRad="76200" dist="25400" dir="8100000" algn="bl" rotWithShape="0">
              <a:srgbClr val="000000">
                <a:alpha val="10000"/>
              </a:srgbClr>
            </a:outerShdw>
          </a:effectLst>
        </p:spPr>
      </p:sp>
      <p:sp>
        <p:nvSpPr>
          <p:cNvPr id="6" name="Text 4"/>
          <p:cNvSpPr/>
          <p:nvPr/>
        </p:nvSpPr>
        <p:spPr>
          <a:xfrm>
            <a:off x="1097280" y="960120"/>
            <a:ext cx="6949440" cy="36576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GitHub Repository:</a:t>
            </a:r>
            <a:endParaRPr lang="en-US" sz="1300" dirty="0"/>
          </a:p>
        </p:txBody>
      </p:sp>
      <p:sp>
        <p:nvSpPr>
          <p:cNvPr id="8" name="Text 6"/>
          <p:cNvSpPr/>
          <p:nvPr/>
        </p:nvSpPr>
        <p:spPr>
          <a:xfrm>
            <a:off x="1371600" y="2423160"/>
            <a:ext cx="6400800" cy="868680"/>
          </a:xfrm>
          <a:prstGeom prst="rect">
            <a:avLst/>
          </a:prstGeom>
          <a:noFill/>
          <a:ln/>
        </p:spPr>
        <p:txBody>
          <a:bodyPr wrap="square" rtlCol="0" anchor="ctr"/>
          <a:lstStyle/>
          <a:p>
            <a:pPr marL="0" indent="0" algn="ctr">
              <a:buNone/>
            </a:pPr>
            <a:r>
              <a:rPr lang="en-US" sz="4800" b="1" dirty="0">
                <a:solidFill>
                  <a:srgbClr val="1E3A5F"/>
                </a:solidFill>
                <a:latin typeface="Calibri" pitchFamily="34" charset="0"/>
                <a:ea typeface="Calibri" pitchFamily="34" charset="-122"/>
                <a:cs typeface="Calibri" pitchFamily="34" charset="-120"/>
              </a:rPr>
              <a:t>Thank You!</a:t>
            </a:r>
            <a:endParaRPr lang="en-US" sz="4800" dirty="0"/>
          </a:p>
        </p:txBody>
      </p:sp>
      <p:sp>
        <p:nvSpPr>
          <p:cNvPr id="9" name="Shape 7"/>
          <p:cNvSpPr/>
          <p:nvPr/>
        </p:nvSpPr>
        <p:spPr>
          <a:xfrm>
            <a:off x="1371600" y="3364992"/>
            <a:ext cx="6400800" cy="36576"/>
          </a:xfrm>
          <a:prstGeom prst="rect">
            <a:avLst/>
          </a:prstGeom>
          <a:solidFill>
            <a:srgbClr val="E2E8F0"/>
          </a:solidFill>
          <a:ln w="12700">
            <a:solidFill>
              <a:srgbClr val="E2E8F0"/>
            </a:solidFill>
            <a:prstDash val="solid"/>
          </a:ln>
        </p:spPr>
      </p:sp>
      <p:sp>
        <p:nvSpPr>
          <p:cNvPr id="10" name="Text 8"/>
          <p:cNvSpPr/>
          <p:nvPr/>
        </p:nvSpPr>
        <p:spPr>
          <a:xfrm>
            <a:off x="914400" y="3456432"/>
            <a:ext cx="7315200" cy="685800"/>
          </a:xfrm>
          <a:prstGeom prst="rect">
            <a:avLst/>
          </a:prstGeom>
          <a:noFill/>
          <a:ln/>
        </p:spPr>
        <p:txBody>
          <a:bodyPr wrap="square"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We sincerely thank </a:t>
            </a:r>
            <a:r>
              <a:rPr lang="en-US" sz="1150">
                <a:solidFill>
                  <a:srgbClr val="64748B"/>
                </a:solidFill>
                <a:latin typeface="Calibri" pitchFamily="34" charset="0"/>
                <a:ea typeface="Calibri" pitchFamily="34" charset="-122"/>
                <a:cs typeface="Calibri" pitchFamily="34" charset="-120"/>
              </a:rPr>
              <a:t>our guide K.Praveen kumar, </a:t>
            </a:r>
            <a:r>
              <a:rPr lang="en-US" sz="1150" dirty="0">
                <a:solidFill>
                  <a:srgbClr val="64748B"/>
                </a:solidFill>
                <a:latin typeface="Calibri" pitchFamily="34" charset="0"/>
                <a:ea typeface="Calibri" pitchFamily="34" charset="-122"/>
                <a:cs typeface="Calibri" pitchFamily="34" charset="-120"/>
              </a:rPr>
              <a:t>the PRC Coordinators,</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HoD Dr. Nuthanakanti Bhaskar and all CMR Technical Campus faculty for their invaluable support.</a:t>
            </a:r>
            <a:endParaRPr lang="en-US" sz="1150" dirty="0"/>
          </a:p>
        </p:txBody>
      </p:sp>
      <p:sp>
        <p:nvSpPr>
          <p:cNvPr id="11" name="Text 9"/>
          <p:cNvSpPr/>
          <p:nvPr/>
        </p:nvSpPr>
        <p:spPr>
          <a:xfrm>
            <a:off x="1371600" y="4206240"/>
            <a:ext cx="6400800" cy="594360"/>
          </a:xfrm>
          <a:prstGeom prst="rect">
            <a:avLst/>
          </a:prstGeom>
          <a:noFill/>
          <a:ln/>
        </p:spPr>
        <p:txBody>
          <a:bodyPr wrap="square" rtlCol="0" anchor="ctr"/>
          <a:lstStyle/>
          <a:p>
            <a:pPr marL="0" indent="0" algn="ctr">
              <a:buNone/>
            </a:pPr>
            <a:r>
              <a:rPr lang="en-US" sz="1100" b="1" dirty="0">
                <a:solidFill>
                  <a:srgbClr val="1E3A5F"/>
                </a:solidFill>
                <a:latin typeface="Calibri" pitchFamily="34" charset="0"/>
                <a:ea typeface="Calibri" pitchFamily="34" charset="-122"/>
                <a:cs typeface="Calibri" pitchFamily="34" charset="-120"/>
              </a:rPr>
              <a:t>Patnala Harika  |  Donthula Vishwak  |  Mudusu Aravind</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Dept. of CSE, CMR Technical Campus, Hyderabad</a:t>
            </a:r>
            <a:endParaRPr lang="en-US" sz="1100" dirty="0"/>
          </a:p>
        </p:txBody>
      </p:sp>
      <p:sp>
        <p:nvSpPr>
          <p:cNvPr id="12" name="Shape 10"/>
          <p:cNvSpPr/>
          <p:nvPr/>
        </p:nvSpPr>
        <p:spPr>
          <a:xfrm>
            <a:off x="0" y="5001768"/>
            <a:ext cx="9144000" cy="141732"/>
          </a:xfrm>
          <a:prstGeom prst="rect">
            <a:avLst/>
          </a:prstGeom>
          <a:solidFill>
            <a:srgbClr val="E2E8F0"/>
          </a:solidFill>
          <a:ln w="12700">
            <a:solidFill>
              <a:srgbClr val="E2E8F0"/>
            </a:solidFill>
            <a:prstDash val="solid"/>
          </a:ln>
        </p:spPr>
      </p:sp>
      <p:sp>
        <p:nvSpPr>
          <p:cNvPr id="13" name="Text 11"/>
          <p:cNvSpPr/>
          <p:nvPr/>
        </p:nvSpPr>
        <p:spPr>
          <a:xfrm>
            <a:off x="182880" y="5001768"/>
            <a:ext cx="8778240" cy="141732"/>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AI-Driven DDoS Protection Architecture and Tools  |  RTRP Review-II  |  CMR Technical Campus  |  April 2025</a:t>
            </a:r>
            <a:endParaRPr lang="en-US" sz="850" dirty="0"/>
          </a:p>
        </p:txBody>
      </p:sp>
      <p:sp>
        <p:nvSpPr>
          <p:cNvPr id="15" name="TextBox 14">
            <a:extLst>
              <a:ext uri="{FF2B5EF4-FFF2-40B4-BE49-F238E27FC236}">
                <a16:creationId xmlns:a16="http://schemas.microsoft.com/office/drawing/2014/main" id="{26DBFE07-F418-6AB2-EFF0-E699473F05F3}"/>
              </a:ext>
            </a:extLst>
          </p:cNvPr>
          <p:cNvSpPr txBox="1"/>
          <p:nvPr/>
        </p:nvSpPr>
        <p:spPr>
          <a:xfrm>
            <a:off x="1155032" y="1479884"/>
            <a:ext cx="5841331" cy="261610"/>
          </a:xfrm>
          <a:prstGeom prst="rect">
            <a:avLst/>
          </a:prstGeom>
          <a:noFill/>
        </p:spPr>
        <p:txBody>
          <a:bodyPr wrap="square" rtlCol="0">
            <a:spAutoFit/>
          </a:bodyPr>
          <a:lstStyle/>
          <a:p>
            <a:r>
              <a:rPr lang="en-IN" sz="1100">
                <a:hlinkClick r:id="rId3"/>
              </a:rPr>
              <a:t>https://github.com/247r1a05u3/AI-DRIVEN-DDOS-PROTECTION-ARCHITECTURE-AND-TOOLS.git</a:t>
            </a:r>
            <a:endParaRPr lang="en-IN"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2566</Words>
  <Application>Microsoft Office PowerPoint</Application>
  <PresentationFormat>On-screen Show (16:9)</PresentationFormat>
  <Paragraphs>342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harika patnala</cp:lastModifiedBy>
  <cp:revision>2</cp:revision>
  <dcterms:created xsi:type="dcterms:W3CDTF">2026-03-28T00:49:48Z</dcterms:created>
  <dcterms:modified xsi:type="dcterms:W3CDTF">2026-03-28T04:35:34Z</dcterms:modified>
</cp:coreProperties>
</file>